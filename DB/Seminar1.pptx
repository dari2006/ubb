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33"/>
  </p:notesMasterIdLst>
  <p:handoutMasterIdLst>
    <p:handoutMasterId r:id="rId34"/>
  </p:handoutMasterIdLst>
  <p:sldIdLst>
    <p:sldId id="256" r:id="rId2"/>
    <p:sldId id="257" r:id="rId3"/>
    <p:sldId id="258" r:id="rId4"/>
    <p:sldId id="261" r:id="rId5"/>
    <p:sldId id="301" r:id="rId6"/>
    <p:sldId id="302" r:id="rId7"/>
    <p:sldId id="303" r:id="rId8"/>
    <p:sldId id="325" r:id="rId9"/>
    <p:sldId id="318" r:id="rId10"/>
    <p:sldId id="319" r:id="rId11"/>
    <p:sldId id="304" r:id="rId12"/>
    <p:sldId id="305" r:id="rId13"/>
    <p:sldId id="326" r:id="rId14"/>
    <p:sldId id="320" r:id="rId15"/>
    <p:sldId id="321" r:id="rId16"/>
    <p:sldId id="306" r:id="rId17"/>
    <p:sldId id="327" r:id="rId18"/>
    <p:sldId id="307" r:id="rId19"/>
    <p:sldId id="308" r:id="rId20"/>
    <p:sldId id="322" r:id="rId21"/>
    <p:sldId id="309" r:id="rId22"/>
    <p:sldId id="310" r:id="rId23"/>
    <p:sldId id="311" r:id="rId24"/>
    <p:sldId id="312" r:id="rId25"/>
    <p:sldId id="314" r:id="rId26"/>
    <p:sldId id="315" r:id="rId27"/>
    <p:sldId id="313" r:id="rId28"/>
    <p:sldId id="316" r:id="rId29"/>
    <p:sldId id="324" r:id="rId30"/>
    <p:sldId id="317" r:id="rId31"/>
    <p:sldId id="323" r:id="rId32"/>
  </p:sldIdLst>
  <p:sldSz cx="12192000" cy="6858000"/>
  <p:notesSz cx="6858000" cy="9144000"/>
  <p:defaultTextStyle>
    <a:defPPr rtl="0">
      <a:defRPr lang="ro-r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24" autoAdjust="0"/>
    <p:restoredTop sz="94660"/>
  </p:normalViewPr>
  <p:slideViewPr>
    <p:cSldViewPr snapToGrid="0">
      <p:cViewPr varScale="1">
        <p:scale>
          <a:sx n="86" d="100"/>
          <a:sy n="86" d="100"/>
        </p:scale>
        <p:origin x="422" y="58"/>
      </p:cViewPr>
      <p:guideLst>
        <p:guide orient="horz" pos="2160"/>
        <p:guide pos="3840"/>
      </p:guideLst>
    </p:cSldViewPr>
  </p:slideViewPr>
  <p:notesTextViewPr>
    <p:cViewPr>
      <p:scale>
        <a:sx n="1" d="1"/>
        <a:sy n="1" d="1"/>
      </p:scale>
      <p:origin x="0" y="0"/>
    </p:cViewPr>
  </p:notesTextViewPr>
  <p:notesViewPr>
    <p:cSldViewPr snapToGrid="0">
      <p:cViewPr varScale="1">
        <p:scale>
          <a:sx n="72" d="100"/>
          <a:sy n="72" d="100"/>
        </p:scale>
        <p:origin x="4146" y="6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dirty="0"/>
          </a:p>
        </p:txBody>
      </p:sp>
      <p:sp>
        <p:nvSpPr>
          <p:cNvPr id="3" name="Substituent dată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0C55261-D00D-4531-85F2-7815D4272C20}" type="datetime1">
              <a:rPr lang="ro-RO" smtClean="0"/>
              <a:t>25.09.2023</a:t>
            </a:fld>
            <a:endParaRPr lang="ro-RO" dirty="0"/>
          </a:p>
        </p:txBody>
      </p:sp>
      <p:sp>
        <p:nvSpPr>
          <p:cNvPr id="4" name="Substituent subsol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dirty="0"/>
          </a:p>
        </p:txBody>
      </p:sp>
      <p:sp>
        <p:nvSpPr>
          <p:cNvPr id="5" name="Substituent număr diapozitiv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02BA2C8-71FC-43D0-BD87-0547616971FA}" type="slidenum">
              <a:rPr lang="ro-RO" smtClean="0"/>
              <a:t>‹#›</a:t>
            </a:fld>
            <a:endParaRPr lang="ro-RO" dirty="0"/>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ubstituent ante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ro-RO" noProof="0" dirty="0"/>
          </a:p>
        </p:txBody>
      </p:sp>
      <p:sp>
        <p:nvSpPr>
          <p:cNvPr id="3" name="Substituent dată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B297A191-F9ED-44AA-AEE4-9E7ED26D0F78}" type="datetime1">
              <a:rPr lang="ro-RO" noProof="0" smtClean="0"/>
              <a:t>25.09.2023</a:t>
            </a:fld>
            <a:endParaRPr lang="ro-RO" noProof="0" dirty="0"/>
          </a:p>
        </p:txBody>
      </p:sp>
      <p:sp>
        <p:nvSpPr>
          <p:cNvPr id="4" name="Substituent imagine diapozitiv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ro-RO" noProof="0" dirty="0"/>
          </a:p>
        </p:txBody>
      </p:sp>
      <p:sp>
        <p:nvSpPr>
          <p:cNvPr id="5" name="Substituent note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6" name="Substituent subsol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ro-RO" noProof="0" dirty="0"/>
          </a:p>
        </p:txBody>
      </p:sp>
      <p:sp>
        <p:nvSpPr>
          <p:cNvPr id="7" name="Substituent număr diapozitiv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C6539446-6953-447E-A4E3-E7CFBF870046}" type="slidenum">
              <a:rPr lang="ro-RO" noProof="0" smtClean="0"/>
              <a:t>‹#›</a:t>
            </a:fld>
            <a:endParaRPr lang="ro-RO" noProof="0" dirty="0"/>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1</a:t>
            </a:fld>
            <a:endParaRPr lang="ro-RO" dirty="0"/>
          </a:p>
        </p:txBody>
      </p:sp>
    </p:spTree>
    <p:extLst>
      <p:ext uri="{BB962C8B-B14F-4D97-AF65-F5344CB8AC3E}">
        <p14:creationId xmlns:p14="http://schemas.microsoft.com/office/powerpoint/2010/main" val="1775014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stituent imagine diapozitiv 1"/>
          <p:cNvSpPr>
            <a:spLocks noGrp="1" noRot="1" noChangeAspect="1"/>
          </p:cNvSpPr>
          <p:nvPr>
            <p:ph type="sldImg"/>
          </p:nvPr>
        </p:nvSpPr>
        <p:spPr/>
      </p:sp>
      <p:sp>
        <p:nvSpPr>
          <p:cNvPr id="3" name="Substituent note 2"/>
          <p:cNvSpPr>
            <a:spLocks noGrp="1"/>
          </p:cNvSpPr>
          <p:nvPr>
            <p:ph type="body" idx="1"/>
          </p:nvPr>
        </p:nvSpPr>
        <p:spPr/>
        <p:txBody>
          <a:bodyPr/>
          <a:lstStyle/>
          <a:p>
            <a:endParaRPr lang="ro-RO" dirty="0"/>
          </a:p>
        </p:txBody>
      </p:sp>
      <p:sp>
        <p:nvSpPr>
          <p:cNvPr id="4" name="Substituent număr diapozitiv 3"/>
          <p:cNvSpPr>
            <a:spLocks noGrp="1"/>
          </p:cNvSpPr>
          <p:nvPr>
            <p:ph type="sldNum" sz="quarter" idx="10"/>
          </p:nvPr>
        </p:nvSpPr>
        <p:spPr/>
        <p:txBody>
          <a:bodyPr/>
          <a:lstStyle/>
          <a:p>
            <a:pPr rtl="0"/>
            <a:fld id="{C6539446-6953-447E-A4E3-E7CFBF870046}" type="slidenum">
              <a:rPr lang="ro-RO" smtClean="0"/>
              <a:t>2</a:t>
            </a:fld>
            <a:endParaRPr lang="ro-RO" dirty="0"/>
          </a:p>
        </p:txBody>
      </p:sp>
    </p:spTree>
    <p:extLst>
      <p:ext uri="{BB962C8B-B14F-4D97-AF65-F5344CB8AC3E}">
        <p14:creationId xmlns:p14="http://schemas.microsoft.com/office/powerpoint/2010/main" val="32738915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zitiv titlu">
    <p:spTree>
      <p:nvGrpSpPr>
        <p:cNvPr id="1" name=""/>
        <p:cNvGrpSpPr/>
        <p:nvPr/>
      </p:nvGrpSpPr>
      <p:grpSpPr>
        <a:xfrm>
          <a:off x="0" y="0"/>
          <a:ext cx="0" cy="0"/>
          <a:chOff x="0" y="0"/>
          <a:chExt cx="0" cy="0"/>
        </a:xfrm>
      </p:grpSpPr>
      <p:sp>
        <p:nvSpPr>
          <p:cNvPr id="4" name="apă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5" name="cer"/>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6" name="apă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apă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Dreptunghi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sp>
        <p:nvSpPr>
          <p:cNvPr id="2" name="Titlu 1"/>
          <p:cNvSpPr>
            <a:spLocks noGrp="1"/>
          </p:cNvSpPr>
          <p:nvPr>
            <p:ph type="ctrTitle"/>
          </p:nvPr>
        </p:nvSpPr>
        <p:spPr>
          <a:xfrm>
            <a:off x="1305872" y="1309047"/>
            <a:ext cx="9602789" cy="2667000"/>
          </a:xfrm>
        </p:spPr>
        <p:txBody>
          <a:bodyPr rtlCol="0" anchor="b">
            <a:noAutofit/>
          </a:bodyPr>
          <a:lstStyle>
            <a:lvl1pPr algn="ctr">
              <a:defRPr sz="6000"/>
            </a:lvl1pPr>
          </a:lstStyle>
          <a:p>
            <a:pPr rtl="0"/>
            <a:r>
              <a:rPr lang="en-US" noProof="0"/>
              <a:t>Click to edit Master title style</a:t>
            </a:r>
            <a:endParaRPr lang="ro-RO" noProof="0" dirty="0"/>
          </a:p>
        </p:txBody>
      </p:sp>
      <p:sp>
        <p:nvSpPr>
          <p:cNvPr id="3" name="Subtitlu 2"/>
          <p:cNvSpPr>
            <a:spLocks noGrp="1"/>
          </p:cNvSpPr>
          <p:nvPr>
            <p:ph type="subTitle" idx="1"/>
          </p:nvPr>
        </p:nvSpPr>
        <p:spPr>
          <a:xfrm>
            <a:off x="1305872" y="4038600"/>
            <a:ext cx="9601200" cy="990600"/>
          </a:xfrm>
        </p:spPr>
        <p:txBody>
          <a:bodyPr rtlCol="0">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pPr rtl="0"/>
            <a:r>
              <a:rPr lang="en-US" noProof="0"/>
              <a:t>Click to edit Master subtitle style</a:t>
            </a:r>
            <a:endParaRPr lang="ro-RO" noProof="0" dirty="0"/>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u și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conținut 2"/>
          <p:cNvSpPr>
            <a:spLocks noGrp="1"/>
          </p:cNvSpPr>
          <p:nvPr>
            <p:ph idx="1"/>
          </p:nvPr>
        </p:nvSpPr>
        <p:spPr/>
        <p:txBody>
          <a:bodyPr rtlCol="0"/>
          <a:lstStyle>
            <a:lvl5pPr>
              <a:defRPr/>
            </a:lvl5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83DB0413-3825-4517-84C4-BC4D0AB13719}"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Antet secțiune">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2" name="Titlu 1"/>
          <p:cNvSpPr>
            <a:spLocks noGrp="1"/>
          </p:cNvSpPr>
          <p:nvPr>
            <p:ph type="title"/>
          </p:nvPr>
        </p:nvSpPr>
        <p:spPr>
          <a:xfrm>
            <a:off x="1293813" y="1309047"/>
            <a:ext cx="9601252" cy="2667000"/>
          </a:xfrm>
        </p:spPr>
        <p:txBody>
          <a:bodyPr rtlCol="0" anchor="b">
            <a:normAutofit/>
          </a:bodyPr>
          <a:lstStyle>
            <a:lvl1pPr algn="ctr">
              <a:defRPr sz="6000" b="0"/>
            </a:lvl1pPr>
          </a:lstStyle>
          <a:p>
            <a:pPr rtl="0"/>
            <a:r>
              <a:rPr lang="en-US" noProof="0"/>
              <a:t>Click to edit Master title style</a:t>
            </a:r>
            <a:endParaRPr lang="ro-RO" noProof="0" dirty="0"/>
          </a:p>
        </p:txBody>
      </p:sp>
      <p:sp>
        <p:nvSpPr>
          <p:cNvPr id="3" name="Substituent text 2"/>
          <p:cNvSpPr>
            <a:spLocks noGrp="1"/>
          </p:cNvSpPr>
          <p:nvPr>
            <p:ph type="body" idx="1"/>
          </p:nvPr>
        </p:nvSpPr>
        <p:spPr>
          <a:xfrm>
            <a:off x="1293813" y="4038600"/>
            <a:ext cx="9601200" cy="1143000"/>
          </a:xfrm>
        </p:spPr>
        <p:txBody>
          <a:bodyPr rtlCol="0"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en-US" noProof="0"/>
              <a:t>Click to edit Master text styles</a:t>
            </a:r>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74057804-296C-404E-AB5A-AECE13AB895F}"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uă tipuri de conținut">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4" name="Substituent conținut 3"/>
          <p:cNvSpPr>
            <a:spLocks noGrp="1"/>
          </p:cNvSpPr>
          <p:nvPr>
            <p:ph sz="half" idx="2"/>
          </p:nvPr>
        </p:nvSpPr>
        <p:spPr>
          <a:xfrm>
            <a:off x="627888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3" name="Substituent conținut 2"/>
          <p:cNvSpPr>
            <a:spLocks noGrp="1"/>
          </p:cNvSpPr>
          <p:nvPr>
            <p:ph sz="half" idx="1"/>
          </p:nvPr>
        </p:nvSpPr>
        <p:spPr>
          <a:xfrm>
            <a:off x="1341120" y="1572768"/>
            <a:ext cx="4572000" cy="4142232"/>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F42983A4-6813-4B72-A61A-A17CFCC7D384}" type="datetime1">
              <a:rPr lang="ro-RO" noProof="0" smtClean="0"/>
              <a:t>25.09.2023</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ație">
    <p:spTree>
      <p:nvGrpSpPr>
        <p:cNvPr id="1" name=""/>
        <p:cNvGrpSpPr/>
        <p:nvPr/>
      </p:nvGrpSpPr>
      <p:grpSpPr>
        <a:xfrm>
          <a:off x="0" y="0"/>
          <a:ext cx="0" cy="0"/>
          <a:chOff x="0" y="0"/>
          <a:chExt cx="0" cy="0"/>
        </a:xfrm>
      </p:grpSpPr>
      <p:sp>
        <p:nvSpPr>
          <p:cNvPr id="10" name="Titlu 9"/>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2"/>
          <p:cNvSpPr>
            <a:spLocks noGrp="1"/>
          </p:cNvSpPr>
          <p:nvPr>
            <p:ph type="body" idx="1"/>
          </p:nvPr>
        </p:nvSpPr>
        <p:spPr>
          <a:xfrm>
            <a:off x="134112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4" name="Substituent conținut 3"/>
          <p:cNvSpPr>
            <a:spLocks noGrp="1"/>
          </p:cNvSpPr>
          <p:nvPr>
            <p:ph sz="half" idx="2"/>
          </p:nvPr>
        </p:nvSpPr>
        <p:spPr>
          <a:xfrm>
            <a:off x="134112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text 4"/>
          <p:cNvSpPr>
            <a:spLocks noGrp="1"/>
          </p:cNvSpPr>
          <p:nvPr>
            <p:ph type="body" sz="quarter" idx="3"/>
          </p:nvPr>
        </p:nvSpPr>
        <p:spPr>
          <a:xfrm>
            <a:off x="6278880" y="1572768"/>
            <a:ext cx="4572000" cy="766588"/>
          </a:xfrm>
        </p:spPr>
        <p:txBody>
          <a:bodyPr rtlCol="0"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n-US" noProof="0"/>
              <a:t>Click to edit Master text styles</a:t>
            </a:r>
          </a:p>
        </p:txBody>
      </p:sp>
      <p:sp>
        <p:nvSpPr>
          <p:cNvPr id="6" name="Substituent conținut 5"/>
          <p:cNvSpPr>
            <a:spLocks noGrp="1"/>
          </p:cNvSpPr>
          <p:nvPr>
            <p:ph sz="quarter" idx="4"/>
          </p:nvPr>
        </p:nvSpPr>
        <p:spPr>
          <a:xfrm>
            <a:off x="6278880" y="2365861"/>
            <a:ext cx="4572000" cy="3349140"/>
          </a:xfrm>
        </p:spPr>
        <p:txBody>
          <a:bodyPr rtlCol="0">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8" name="Substituent subsol 7"/>
          <p:cNvSpPr>
            <a:spLocks noGrp="1"/>
          </p:cNvSpPr>
          <p:nvPr>
            <p:ph type="ftr" sz="quarter" idx="11"/>
          </p:nvPr>
        </p:nvSpPr>
        <p:spPr/>
        <p:txBody>
          <a:bodyPr rtlCol="0"/>
          <a:lstStyle/>
          <a:p>
            <a:pPr rtl="0"/>
            <a:r>
              <a:rPr lang="ro-RO" noProof="0" dirty="0"/>
              <a:t>Adăugați un subsol</a:t>
            </a:r>
          </a:p>
        </p:txBody>
      </p:sp>
      <p:sp>
        <p:nvSpPr>
          <p:cNvPr id="7" name="Substituent dată 6"/>
          <p:cNvSpPr>
            <a:spLocks noGrp="1"/>
          </p:cNvSpPr>
          <p:nvPr>
            <p:ph type="dt" sz="half" idx="10"/>
          </p:nvPr>
        </p:nvSpPr>
        <p:spPr/>
        <p:txBody>
          <a:bodyPr rtlCol="0"/>
          <a:lstStyle/>
          <a:p>
            <a:pPr rtl="0"/>
            <a:fld id="{E10E1F3A-7531-4910-B6EB-58549CF60FD5}" type="datetime1">
              <a:rPr lang="ro-RO" noProof="0" smtClean="0"/>
              <a:t>25.09.2023</a:t>
            </a:fld>
            <a:endParaRPr lang="ro-RO" noProof="0" dirty="0"/>
          </a:p>
        </p:txBody>
      </p:sp>
      <p:sp>
        <p:nvSpPr>
          <p:cNvPr id="9" name="Substituent număr diapozitiv 8"/>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oar titlu">
    <p:spTree>
      <p:nvGrpSpPr>
        <p:cNvPr id="1" name=""/>
        <p:cNvGrpSpPr/>
        <p:nvPr/>
      </p:nvGrpSpPr>
      <p:grpSpPr>
        <a:xfrm>
          <a:off x="0" y="0"/>
          <a:ext cx="0" cy="0"/>
          <a:chOff x="0" y="0"/>
          <a:chExt cx="0" cy="0"/>
        </a:xfrm>
      </p:grpSpPr>
      <p:sp>
        <p:nvSpPr>
          <p:cNvPr id="6" name="Titlu 5"/>
          <p:cNvSpPr>
            <a:spLocks noGrp="1"/>
          </p:cNvSpPr>
          <p:nvPr>
            <p:ph type="title"/>
          </p:nvPr>
        </p:nvSpPr>
        <p:spPr/>
        <p:txBody>
          <a:bodyPr rtlCol="0"/>
          <a:lstStyle/>
          <a:p>
            <a:pPr rtl="0"/>
            <a:r>
              <a:rPr lang="en-US" noProof="0"/>
              <a:t>Click to edit Master title style</a:t>
            </a:r>
            <a:endParaRPr lang="ro-RO" noProof="0" dirty="0"/>
          </a:p>
        </p:txBody>
      </p:sp>
      <p:sp>
        <p:nvSpPr>
          <p:cNvPr id="4" name="Substituent subsol 3"/>
          <p:cNvSpPr>
            <a:spLocks noGrp="1"/>
          </p:cNvSpPr>
          <p:nvPr>
            <p:ph type="ftr" sz="quarter" idx="11"/>
          </p:nvPr>
        </p:nvSpPr>
        <p:spPr/>
        <p:txBody>
          <a:bodyPr rtlCol="0"/>
          <a:lstStyle/>
          <a:p>
            <a:pPr rtl="0"/>
            <a:r>
              <a:rPr lang="ro-RO" noProof="0" dirty="0"/>
              <a:t>Adăugați un subsol</a:t>
            </a:r>
          </a:p>
        </p:txBody>
      </p:sp>
      <p:sp>
        <p:nvSpPr>
          <p:cNvPr id="3" name="Substituent dată 2"/>
          <p:cNvSpPr>
            <a:spLocks noGrp="1"/>
          </p:cNvSpPr>
          <p:nvPr>
            <p:ph type="dt" sz="half" idx="10"/>
          </p:nvPr>
        </p:nvSpPr>
        <p:spPr/>
        <p:txBody>
          <a:bodyPr rtlCol="0"/>
          <a:lstStyle/>
          <a:p>
            <a:pPr rtl="0"/>
            <a:fld id="{995A7078-7B7F-48B7-8822-93D7DA5E9327}" type="datetime1">
              <a:rPr lang="ro-RO" noProof="0" smtClean="0"/>
              <a:t>25.09.2023</a:t>
            </a:fld>
            <a:endParaRPr lang="ro-RO" noProof="0" dirty="0"/>
          </a:p>
        </p:txBody>
      </p:sp>
      <p:sp>
        <p:nvSpPr>
          <p:cNvPr id="5" name="Substituent număr diapozitiv 4"/>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Necompletat">
    <p:spTree>
      <p:nvGrpSpPr>
        <p:cNvPr id="1" name=""/>
        <p:cNvGrpSpPr/>
        <p:nvPr/>
      </p:nvGrpSpPr>
      <p:grpSpPr>
        <a:xfrm>
          <a:off x="0" y="0"/>
          <a:ext cx="0" cy="0"/>
          <a:chOff x="0" y="0"/>
          <a:chExt cx="0" cy="0"/>
        </a:xfrm>
      </p:grpSpPr>
      <p:sp>
        <p:nvSpPr>
          <p:cNvPr id="5" name="cer"/>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3" name="Substituent subsol 2"/>
          <p:cNvSpPr>
            <a:spLocks noGrp="1"/>
          </p:cNvSpPr>
          <p:nvPr>
            <p:ph type="ftr" sz="quarter" idx="11"/>
          </p:nvPr>
        </p:nvSpPr>
        <p:spPr/>
        <p:txBody>
          <a:bodyPr rtlCol="0"/>
          <a:lstStyle/>
          <a:p>
            <a:pPr rtl="0"/>
            <a:r>
              <a:rPr lang="ro-RO" noProof="0" dirty="0"/>
              <a:t>Adăugați un subsol</a:t>
            </a:r>
          </a:p>
        </p:txBody>
      </p:sp>
      <p:sp>
        <p:nvSpPr>
          <p:cNvPr id="2" name="Substituent dată 1"/>
          <p:cNvSpPr>
            <a:spLocks noGrp="1"/>
          </p:cNvSpPr>
          <p:nvPr>
            <p:ph type="dt" sz="half" idx="10"/>
          </p:nvPr>
        </p:nvSpPr>
        <p:spPr/>
        <p:txBody>
          <a:bodyPr rtlCol="0"/>
          <a:lstStyle/>
          <a:p>
            <a:pPr rtl="0"/>
            <a:fld id="{65D67F5C-FACA-46A7-A8EA-9CDEA26B0827}" type="datetime1">
              <a:rPr lang="ro-RO" noProof="0" smtClean="0"/>
              <a:t>25.09.2023</a:t>
            </a:fld>
            <a:endParaRPr lang="ro-RO" noProof="0" dirty="0"/>
          </a:p>
        </p:txBody>
      </p:sp>
      <p:sp>
        <p:nvSpPr>
          <p:cNvPr id="4" name="Substituent număr diapozitiv 3"/>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ținut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200" b="0"/>
            </a:lvl1pPr>
          </a:lstStyle>
          <a:p>
            <a:pPr rtl="0"/>
            <a:r>
              <a:rPr lang="en-US" noProof="0"/>
              <a:t>Click to edit Master title style</a:t>
            </a:r>
            <a:endParaRPr lang="ro-RO" noProof="0" dirty="0"/>
          </a:p>
        </p:txBody>
      </p:sp>
      <p:sp>
        <p:nvSpPr>
          <p:cNvPr id="3" name="Substituent conținut 2"/>
          <p:cNvSpPr>
            <a:spLocks noGrp="1"/>
          </p:cNvSpPr>
          <p:nvPr>
            <p:ph idx="1"/>
          </p:nvPr>
        </p:nvSpPr>
        <p:spPr>
          <a:xfrm>
            <a:off x="760413" y="685800"/>
            <a:ext cx="6858000" cy="4572000"/>
          </a:xfrm>
        </p:spPr>
        <p:txBody>
          <a:bodyPr rtlCol="0">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79DC185D-BB37-4190-AD07-0A9F79920DF0}" type="datetime1">
              <a:rPr lang="ro-RO" noProof="0" smtClean="0"/>
              <a:t>25.09.2023</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ine cu legendă">
    <p:spTree>
      <p:nvGrpSpPr>
        <p:cNvPr id="1" name=""/>
        <p:cNvGrpSpPr/>
        <p:nvPr/>
      </p:nvGrpSpPr>
      <p:grpSpPr>
        <a:xfrm>
          <a:off x="0" y="0"/>
          <a:ext cx="0" cy="0"/>
          <a:chOff x="0" y="0"/>
          <a:chExt cx="0" cy="0"/>
        </a:xfrm>
      </p:grpSpPr>
      <p:sp>
        <p:nvSpPr>
          <p:cNvPr id="2" name="Titlu 1"/>
          <p:cNvSpPr>
            <a:spLocks noGrp="1"/>
          </p:cNvSpPr>
          <p:nvPr>
            <p:ph type="title"/>
          </p:nvPr>
        </p:nvSpPr>
        <p:spPr>
          <a:xfrm>
            <a:off x="8127479" y="762000"/>
            <a:ext cx="3377133" cy="2743200"/>
          </a:xfrm>
        </p:spPr>
        <p:txBody>
          <a:bodyPr rtlCol="0" anchor="b">
            <a:normAutofit/>
          </a:bodyPr>
          <a:lstStyle>
            <a:lvl1pPr>
              <a:defRPr sz="3400" b="0"/>
            </a:lvl1pPr>
          </a:lstStyle>
          <a:p>
            <a:pPr rtl="0"/>
            <a:r>
              <a:rPr lang="en-US" noProof="0"/>
              <a:t>Click to edit Master title style</a:t>
            </a:r>
            <a:endParaRPr lang="ro-RO" noProof="0" dirty="0"/>
          </a:p>
        </p:txBody>
      </p:sp>
      <p:sp>
        <p:nvSpPr>
          <p:cNvPr id="3" name="Substituent imagine 2" descr="Un substituent gol pentru a adăuga o imagine. Faceți clic pe substituent și selectați imaginea pe care doriți s-o adăugați"/>
          <p:cNvSpPr>
            <a:spLocks noGrp="1"/>
          </p:cNvSpPr>
          <p:nvPr>
            <p:ph type="pic" idx="1"/>
          </p:nvPr>
        </p:nvSpPr>
        <p:spPr>
          <a:xfrm>
            <a:off x="760413" y="685800"/>
            <a:ext cx="6858000" cy="4572000"/>
          </a:xfrm>
          <a:solidFill>
            <a:schemeClr val="bg1">
              <a:lumMod val="95000"/>
            </a:schemeClr>
          </a:solidFill>
        </p:spPr>
        <p:txBody>
          <a:bodyPr rtlCol="0">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en-US" noProof="0"/>
              <a:t>Click icon to add picture</a:t>
            </a:r>
            <a:endParaRPr lang="ro-RO" noProof="0" dirty="0"/>
          </a:p>
        </p:txBody>
      </p:sp>
      <p:sp>
        <p:nvSpPr>
          <p:cNvPr id="4" name="Substituent text 3"/>
          <p:cNvSpPr>
            <a:spLocks noGrp="1"/>
          </p:cNvSpPr>
          <p:nvPr>
            <p:ph type="body" sz="half" idx="2"/>
          </p:nvPr>
        </p:nvSpPr>
        <p:spPr>
          <a:xfrm>
            <a:off x="8127479" y="3554104"/>
            <a:ext cx="3377133" cy="1703696"/>
          </a:xfrm>
        </p:spPr>
        <p:txBody>
          <a:bodyPr rtlCol="0">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en-US" noProof="0"/>
              <a:t>Click to edit Master text styles</a:t>
            </a:r>
          </a:p>
        </p:txBody>
      </p:sp>
      <p:sp>
        <p:nvSpPr>
          <p:cNvPr id="6" name="Substituent subsol 5"/>
          <p:cNvSpPr>
            <a:spLocks noGrp="1"/>
          </p:cNvSpPr>
          <p:nvPr>
            <p:ph type="ftr" sz="quarter" idx="11"/>
          </p:nvPr>
        </p:nvSpPr>
        <p:spPr/>
        <p:txBody>
          <a:bodyPr rtlCol="0"/>
          <a:lstStyle/>
          <a:p>
            <a:pPr rtl="0"/>
            <a:r>
              <a:rPr lang="ro-RO" noProof="0" dirty="0"/>
              <a:t>Adăugați un subsol</a:t>
            </a:r>
          </a:p>
        </p:txBody>
      </p:sp>
      <p:sp>
        <p:nvSpPr>
          <p:cNvPr id="5" name="Substituent dată 4"/>
          <p:cNvSpPr>
            <a:spLocks noGrp="1"/>
          </p:cNvSpPr>
          <p:nvPr>
            <p:ph type="dt" sz="half" idx="10"/>
          </p:nvPr>
        </p:nvSpPr>
        <p:spPr/>
        <p:txBody>
          <a:bodyPr rtlCol="0"/>
          <a:lstStyle/>
          <a:p>
            <a:pPr rtl="0"/>
            <a:fld id="{C82CB56C-2BA1-4215-B6A3-04C489B091CB}" type="datetime1">
              <a:rPr lang="ro-RO" noProof="0" smtClean="0"/>
              <a:t>25.09.2023</a:t>
            </a:fld>
            <a:endParaRPr lang="ro-RO" noProof="0" dirty="0"/>
          </a:p>
        </p:txBody>
      </p:sp>
      <p:sp>
        <p:nvSpPr>
          <p:cNvPr id="7" name="Substituent număr diapozitiv 6"/>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ext vertical și titlu">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E9C0E6F7-DBC8-44CA-A21F-7876F2AEC1C8}"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lu vertical și text">
    <p:spTree>
      <p:nvGrpSpPr>
        <p:cNvPr id="1" name=""/>
        <p:cNvGrpSpPr/>
        <p:nvPr/>
      </p:nvGrpSpPr>
      <p:grpSpPr>
        <a:xfrm>
          <a:off x="0" y="0"/>
          <a:ext cx="0" cy="0"/>
          <a:chOff x="0" y="0"/>
          <a:chExt cx="0" cy="0"/>
        </a:xfrm>
      </p:grpSpPr>
      <p:sp>
        <p:nvSpPr>
          <p:cNvPr id="2" name="Titlu vertical 1"/>
          <p:cNvSpPr>
            <a:spLocks noGrp="1"/>
          </p:cNvSpPr>
          <p:nvPr>
            <p:ph type="title" orient="vert"/>
          </p:nvPr>
        </p:nvSpPr>
        <p:spPr>
          <a:xfrm>
            <a:off x="8724900" y="274638"/>
            <a:ext cx="2628900" cy="5440362"/>
          </a:xfrm>
        </p:spPr>
        <p:txBody>
          <a:bodyPr vert="eaVert" rtlCol="0"/>
          <a:lstStyle/>
          <a:p>
            <a:pPr rtl="0"/>
            <a:r>
              <a:rPr lang="en-US" noProof="0"/>
              <a:t>Click to edit Master title style</a:t>
            </a:r>
            <a:endParaRPr lang="ro-RO" noProof="0" dirty="0"/>
          </a:p>
        </p:txBody>
      </p:sp>
      <p:sp>
        <p:nvSpPr>
          <p:cNvPr id="3" name="Substituent text vertical 2"/>
          <p:cNvSpPr>
            <a:spLocks noGrp="1"/>
          </p:cNvSpPr>
          <p:nvPr>
            <p:ph type="body" orient="vert" idx="1"/>
          </p:nvPr>
        </p:nvSpPr>
        <p:spPr>
          <a:xfrm>
            <a:off x="838200" y="274638"/>
            <a:ext cx="7734300" cy="5440362"/>
          </a:xfrm>
        </p:spPr>
        <p:txBody>
          <a:bodyPr vert="eaVert" rtlCol="0"/>
          <a:lstStyle/>
          <a:p>
            <a:pPr lvl="0" rtl="0"/>
            <a:r>
              <a:rPr lang="en-US" noProof="0"/>
              <a:t>Click to edit Master text styles</a:t>
            </a:r>
          </a:p>
          <a:p>
            <a:pPr lvl="1" rtl="0"/>
            <a:r>
              <a:rPr lang="en-US" noProof="0"/>
              <a:t>Second level</a:t>
            </a:r>
          </a:p>
          <a:p>
            <a:pPr lvl="2" rtl="0"/>
            <a:r>
              <a:rPr lang="en-US" noProof="0"/>
              <a:t>Third level</a:t>
            </a:r>
          </a:p>
          <a:p>
            <a:pPr lvl="3" rtl="0"/>
            <a:r>
              <a:rPr lang="en-US" noProof="0"/>
              <a:t>Fourth level</a:t>
            </a:r>
          </a:p>
          <a:p>
            <a:pPr lvl="4" rtl="0"/>
            <a:r>
              <a:rPr lang="en-US" noProof="0"/>
              <a:t>Fifth level</a:t>
            </a:r>
            <a:endParaRPr lang="ro-RO" noProof="0" dirty="0"/>
          </a:p>
        </p:txBody>
      </p:sp>
      <p:sp>
        <p:nvSpPr>
          <p:cNvPr id="5" name="Substituent subsol 4"/>
          <p:cNvSpPr>
            <a:spLocks noGrp="1"/>
          </p:cNvSpPr>
          <p:nvPr>
            <p:ph type="ftr" sz="quarter" idx="11"/>
          </p:nvPr>
        </p:nvSpPr>
        <p:spPr/>
        <p:txBody>
          <a:bodyPr rtlCol="0"/>
          <a:lstStyle/>
          <a:p>
            <a:pPr rtl="0"/>
            <a:r>
              <a:rPr lang="ro-RO" noProof="0" dirty="0"/>
              <a:t>Adăugați un subsol</a:t>
            </a:r>
          </a:p>
        </p:txBody>
      </p:sp>
      <p:sp>
        <p:nvSpPr>
          <p:cNvPr id="4" name="Substituent dată 3"/>
          <p:cNvSpPr>
            <a:spLocks noGrp="1"/>
          </p:cNvSpPr>
          <p:nvPr>
            <p:ph type="dt" sz="half" idx="10"/>
          </p:nvPr>
        </p:nvSpPr>
        <p:spPr/>
        <p:txBody>
          <a:bodyPr rtlCol="0"/>
          <a:lstStyle/>
          <a:p>
            <a:pPr rtl="0"/>
            <a:fld id="{FF8C643B-5485-403E-8EBD-16244D488590}" type="datetime1">
              <a:rPr lang="ro-RO" noProof="0" smtClean="0"/>
              <a:t>25.09.2023</a:t>
            </a:fld>
            <a:endParaRPr lang="ro-RO" noProof="0" dirty="0"/>
          </a:p>
        </p:txBody>
      </p:sp>
      <p:sp>
        <p:nvSpPr>
          <p:cNvPr id="6" name="Substituent număr diapozitiv 5"/>
          <p:cNvSpPr>
            <a:spLocks noGrp="1"/>
          </p:cNvSpPr>
          <p:nvPr>
            <p:ph type="sldNum" sz="quarter" idx="12"/>
          </p:nvPr>
        </p:nvSpPr>
        <p:spPr/>
        <p:txBody>
          <a:bodyPr rtlCol="0"/>
          <a:lstStyle/>
          <a:p>
            <a:pPr rtl="0"/>
            <a:fld id="{4FAB73BC-B049-4115-A692-8D63A059BFB8}" type="slidenum">
              <a:rPr lang="ro-RO" noProof="0" smtClean="0"/>
              <a:t>‹#›</a:t>
            </a:fld>
            <a:endParaRPr lang="ro-RO" noProof="0" dirty="0"/>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cer"/>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rtl="0"/>
            <a:endParaRPr lang="ro-RO" noProof="0" dirty="0"/>
          </a:p>
        </p:txBody>
      </p:sp>
      <p:sp>
        <p:nvSpPr>
          <p:cNvPr id="8" name="apă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ro-RO" noProof="0" dirty="0"/>
          </a:p>
        </p:txBody>
      </p:sp>
      <p:pic>
        <p:nvPicPr>
          <p:cNvPr id="9" name="apă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apă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Substituent titlu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pPr rtl="0"/>
            <a:r>
              <a:rPr lang="ro-RO" noProof="0" dirty="0"/>
              <a:t>Faceți clic pentru a edita stilul de titlu Coordonator</a:t>
            </a:r>
          </a:p>
        </p:txBody>
      </p:sp>
      <p:sp>
        <p:nvSpPr>
          <p:cNvPr id="3" name="Substituent text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rtl="0"/>
            <a:r>
              <a:rPr lang="ro-RO" noProof="0" dirty="0"/>
              <a:t>Faceți clic pentru a edita stilurile de text Coordonator</a:t>
            </a:r>
          </a:p>
          <a:p>
            <a:pPr lvl="1" rtl="0"/>
            <a:r>
              <a:rPr lang="ro-RO" noProof="0" dirty="0"/>
              <a:t>Al doilea nivel</a:t>
            </a:r>
          </a:p>
          <a:p>
            <a:pPr lvl="2" rtl="0"/>
            <a:r>
              <a:rPr lang="ro-RO" noProof="0" dirty="0"/>
              <a:t>Al treilea nivel</a:t>
            </a:r>
          </a:p>
          <a:p>
            <a:pPr lvl="3" rtl="0"/>
            <a:r>
              <a:rPr lang="ro-RO" noProof="0" dirty="0"/>
              <a:t>Al patrulea nivel</a:t>
            </a:r>
          </a:p>
          <a:p>
            <a:pPr lvl="4" rtl="0"/>
            <a:r>
              <a:rPr lang="ro-RO" noProof="0" dirty="0"/>
              <a:t>Al cincilea nivel</a:t>
            </a:r>
          </a:p>
        </p:txBody>
      </p:sp>
      <p:sp>
        <p:nvSpPr>
          <p:cNvPr id="5" name="Substituent subsol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pPr rtl="0"/>
            <a:r>
              <a:rPr lang="ro-RO" noProof="0" dirty="0"/>
              <a:t>Adăugați un subsol</a:t>
            </a:r>
          </a:p>
        </p:txBody>
      </p:sp>
      <p:sp>
        <p:nvSpPr>
          <p:cNvPr id="4" name="Substituent dată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pPr rtl="0"/>
            <a:fld id="{5EF10CAA-0CF2-43FB-B8EE-A41EE9E83454}" type="datetime1">
              <a:rPr lang="ro-RO" noProof="0" smtClean="0"/>
              <a:t>25.09.2023</a:t>
            </a:fld>
            <a:endParaRPr lang="ro-RO" noProof="0" dirty="0"/>
          </a:p>
        </p:txBody>
      </p:sp>
      <p:sp>
        <p:nvSpPr>
          <p:cNvPr id="6" name="Substituent număr diapozitiv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pPr rtl="0"/>
            <a:fld id="{4FAB73BC-B049-4115-A692-8D63A059BFB8}" type="slidenum">
              <a:rPr lang="ro-RO" noProof="0" smtClean="0"/>
              <a:pPr rtl="0"/>
              <a:t>‹#›</a:t>
            </a:fld>
            <a:endParaRPr lang="ro-RO" noProof="0" dirty="0"/>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learn.microsoft.com/en-us/sql/t-sql/statements/alter-database-transact-sql?view=sql-server-ver16&amp;tabs=sqlpool" TargetMode="External"/><Relationship Id="rId2" Type="http://schemas.openxmlformats.org/officeDocument/2006/relationships/hyperlink" Target="https://learn.microsoft.com/en-us/sql/t-sql/statements/create-database-transact-sql?view=sql-server-ver16&amp;tabs=sqlpool" TargetMode="External"/><Relationship Id="rId1" Type="http://schemas.openxmlformats.org/officeDocument/2006/relationships/slideLayout" Target="../slideLayouts/slideLayout2.xml"/><Relationship Id="rId6" Type="http://schemas.openxmlformats.org/officeDocument/2006/relationships/hyperlink" Target="https://learn.microsoft.com/en-us/sql/t-sql/statements/alter-table-transact-sql?view=sql-server-ver16" TargetMode="External"/><Relationship Id="rId5" Type="http://schemas.openxmlformats.org/officeDocument/2006/relationships/hyperlink" Target="https://learn.microsoft.com/en-us/sql/t-sql/statements/create-table-transact-sql?view=sql-server-ver16" TargetMode="External"/><Relationship Id="rId4" Type="http://schemas.openxmlformats.org/officeDocument/2006/relationships/hyperlink" Target="https://learn.microsoft.com/en-us/sql/t-sql/statements/drop-database-transact-sql?view=sql-server-ver16"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learn.microsoft.com/en-us/sql/relational-databases/tables/primary-and-foreign-key-constraints?view=sql-server-ver16" TargetMode="External"/><Relationship Id="rId2" Type="http://schemas.openxmlformats.org/officeDocument/2006/relationships/hyperlink" Target="https://learn.microsoft.com/en-us/sql/t-sql/statements/drop-table-transact-sql?view=sql-server-ver16" TargetMode="External"/><Relationship Id="rId1" Type="http://schemas.openxmlformats.org/officeDocument/2006/relationships/slideLayout" Target="../slideLayouts/slideLayout2.xml"/><Relationship Id="rId5" Type="http://schemas.openxmlformats.org/officeDocument/2006/relationships/hyperlink" Target="https://learn.microsoft.com/en-us/sql/relational-databases/tables/specify-default-values-for-columns?view=sql-server-ver16" TargetMode="External"/><Relationship Id="rId4" Type="http://schemas.openxmlformats.org/officeDocument/2006/relationships/hyperlink" Target="https://learn.microsoft.com/en-us/sql/relational-databases/tables/unique-constraints-and-check-constraints?view=sql-server-ver16"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ctrTitle"/>
          </p:nvPr>
        </p:nvSpPr>
        <p:spPr/>
        <p:txBody>
          <a:bodyPr rtlCol="0"/>
          <a:lstStyle/>
          <a:p>
            <a:pPr rtl="0"/>
            <a:r>
              <a:rPr lang="en-US" dirty="0"/>
              <a:t>SQL DDL: </a:t>
            </a:r>
            <a:r>
              <a:rPr lang="en-US" dirty="0" err="1"/>
              <a:t>Limbaj</a:t>
            </a:r>
            <a:r>
              <a:rPr lang="en-US" dirty="0"/>
              <a:t> de </a:t>
            </a:r>
            <a:r>
              <a:rPr lang="en-US" dirty="0" err="1"/>
              <a:t>definire</a:t>
            </a:r>
            <a:r>
              <a:rPr lang="en-US" dirty="0"/>
              <a:t> a </a:t>
            </a:r>
            <a:r>
              <a:rPr lang="en-US" dirty="0" err="1"/>
              <a:t>datelor</a:t>
            </a:r>
            <a:endParaRPr lang="ro-RO" dirty="0"/>
          </a:p>
        </p:txBody>
      </p:sp>
      <p:sp>
        <p:nvSpPr>
          <p:cNvPr id="3" name="Subtitlu 2"/>
          <p:cNvSpPr>
            <a:spLocks noGrp="1"/>
          </p:cNvSpPr>
          <p:nvPr>
            <p:ph type="subTitle" idx="1"/>
          </p:nvPr>
        </p:nvSpPr>
        <p:spPr/>
        <p:txBody>
          <a:bodyPr rtlCol="0"/>
          <a:lstStyle/>
          <a:p>
            <a:pPr rtl="0"/>
            <a:r>
              <a:rPr lang="en-US" dirty="0"/>
              <a:t>Seminar 1</a:t>
            </a:r>
            <a:endParaRPr lang="ro-RO" dirty="0"/>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u 1"/>
          <p:cNvSpPr>
            <a:spLocks noGrp="1"/>
          </p:cNvSpPr>
          <p:nvPr>
            <p:ph type="title"/>
          </p:nvPr>
        </p:nvSpPr>
        <p:spPr/>
        <p:txBody>
          <a:bodyPr rtlCol="0"/>
          <a:lstStyle/>
          <a:p>
            <a:pPr rtl="0"/>
            <a:r>
              <a:rPr lang="en-US" dirty="0" err="1">
                <a:latin typeface="+mn-lt"/>
              </a:rPr>
              <a:t>Limbajul</a:t>
            </a:r>
            <a:r>
              <a:rPr lang="en-US" dirty="0">
                <a:latin typeface="+mn-lt"/>
              </a:rPr>
              <a:t> SQL: DDL</a:t>
            </a:r>
            <a:endParaRPr lang="ro-RO" dirty="0"/>
          </a:p>
        </p:txBody>
      </p:sp>
      <p:sp>
        <p:nvSpPr>
          <p:cNvPr id="3" name="Substituent conținut 2"/>
          <p:cNvSpPr>
            <a:spLocks noGrp="1"/>
          </p:cNvSpPr>
          <p:nvPr>
            <p:ph idx="1"/>
          </p:nvPr>
        </p:nvSpPr>
        <p:spPr>
          <a:xfrm>
            <a:off x="1341119" y="1572767"/>
            <a:ext cx="10404037" cy="4526191"/>
          </a:xfrm>
        </p:spPr>
        <p:txBody>
          <a:bodyPr rtlCol="0"/>
          <a:lstStyle/>
          <a:p>
            <a:r>
              <a:rPr lang="ro-RO" sz="2000" b="1" dirty="0"/>
              <a:t>DDL</a:t>
            </a:r>
            <a:r>
              <a:rPr lang="en-US" sz="2000" dirty="0"/>
              <a:t> (</a:t>
            </a:r>
            <a:r>
              <a:rPr lang="ro-RO" sz="2000" i="1" dirty="0"/>
              <a:t>Data Definition Language</a:t>
            </a:r>
            <a:r>
              <a:rPr lang="en-US" sz="2000" i="1" dirty="0"/>
              <a:t> </a:t>
            </a:r>
            <a:r>
              <a:rPr lang="en-US" sz="2000" dirty="0"/>
              <a:t>- </a:t>
            </a:r>
            <a:r>
              <a:rPr lang="ro-RO" sz="2000" b="1" i="1" dirty="0"/>
              <a:t>Limbaj de definire a datelor</a:t>
            </a:r>
            <a:r>
              <a:rPr lang="ro-RO" sz="2000" dirty="0"/>
              <a:t>) conține comenzi pentru creare/modificare/ștergere a: </a:t>
            </a:r>
          </a:p>
          <a:p>
            <a:pPr lvl="1"/>
            <a:r>
              <a:rPr lang="ro-RO" dirty="0"/>
              <a:t>bazelor de date</a:t>
            </a:r>
          </a:p>
          <a:p>
            <a:pPr lvl="1"/>
            <a:r>
              <a:rPr lang="ro-RO" dirty="0"/>
              <a:t>tabelelor</a:t>
            </a:r>
          </a:p>
          <a:p>
            <a:pPr lvl="1"/>
            <a:r>
              <a:rPr lang="ro-RO" dirty="0"/>
              <a:t>relațiilor dintre tabele</a:t>
            </a:r>
          </a:p>
          <a:p>
            <a:pPr lvl="1"/>
            <a:r>
              <a:rPr lang="ro-RO" dirty="0"/>
              <a:t>constrângerilor</a:t>
            </a:r>
          </a:p>
          <a:p>
            <a:pPr lvl="1"/>
            <a:r>
              <a:rPr lang="ro-RO" dirty="0"/>
              <a:t>indecșilor</a:t>
            </a:r>
          </a:p>
          <a:p>
            <a:pPr lvl="1"/>
            <a:endParaRPr lang="en-US" dirty="0"/>
          </a:p>
        </p:txBody>
      </p:sp>
    </p:spTree>
    <p:extLst>
      <p:ext uri="{BB962C8B-B14F-4D97-AF65-F5344CB8AC3E}">
        <p14:creationId xmlns:p14="http://schemas.microsoft.com/office/powerpoint/2010/main" val="33274562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1B6E9-B5F6-9E43-4E19-B7981A6840DA}"/>
              </a:ext>
            </a:extLst>
          </p:cNvPr>
          <p:cNvSpPr>
            <a:spLocks noGrp="1"/>
          </p:cNvSpPr>
          <p:nvPr>
            <p:ph type="title"/>
          </p:nvPr>
        </p:nvSpPr>
        <p:spPr/>
        <p:txBody>
          <a:bodyPr/>
          <a:lstStyle/>
          <a:p>
            <a:r>
              <a:rPr lang="ro-RO" dirty="0">
                <a:latin typeface="+mn-lt"/>
              </a:rPr>
              <a:t>Problemă</a:t>
            </a:r>
            <a:endParaRPr lang="ro-RO" dirty="0"/>
          </a:p>
        </p:txBody>
      </p:sp>
      <p:sp>
        <p:nvSpPr>
          <p:cNvPr id="3" name="Content Placeholder 2">
            <a:extLst>
              <a:ext uri="{FF2B5EF4-FFF2-40B4-BE49-F238E27FC236}">
                <a16:creationId xmlns:a16="http://schemas.microsoft.com/office/drawing/2014/main" id="{FCC30F75-A1C7-C8AF-3D7B-4E395B55C96E}"/>
              </a:ext>
            </a:extLst>
          </p:cNvPr>
          <p:cNvSpPr>
            <a:spLocks noGrp="1"/>
          </p:cNvSpPr>
          <p:nvPr>
            <p:ph idx="1"/>
          </p:nvPr>
        </p:nvSpPr>
        <p:spPr>
          <a:xfrm>
            <a:off x="1341119" y="1572767"/>
            <a:ext cx="10279751" cy="4685989"/>
          </a:xfrm>
        </p:spPr>
        <p:txBody>
          <a:bodyPr/>
          <a:lstStyle/>
          <a:p>
            <a:r>
              <a:rPr lang="ro-RO" sz="2400" dirty="0"/>
              <a:t>Să se creeze baza de date a unei aplicații care gestionează notele date de către utilizatori unor filme. </a:t>
            </a:r>
            <a:r>
              <a:rPr lang="ro-RO" sz="2400" b="1" dirty="0"/>
              <a:t>Entitățile</a:t>
            </a:r>
            <a:r>
              <a:rPr lang="ro-RO" sz="2400" dirty="0"/>
              <a:t> de interes pentru </a:t>
            </a:r>
            <a:r>
              <a:rPr lang="ro-RO" sz="2400" b="1" dirty="0"/>
              <a:t>domeniul problemei </a:t>
            </a:r>
            <a:r>
              <a:rPr lang="ro-RO" sz="2400" dirty="0"/>
              <a:t>sunt: </a:t>
            </a:r>
            <a:r>
              <a:rPr lang="ro-RO" sz="2400" i="1" dirty="0"/>
              <a:t>Utilizatori</a:t>
            </a:r>
            <a:r>
              <a:rPr lang="ro-RO" sz="2400" dirty="0"/>
              <a:t>, </a:t>
            </a:r>
            <a:r>
              <a:rPr lang="ro-RO" sz="2400" i="1" dirty="0"/>
              <a:t>Companii</a:t>
            </a:r>
            <a:r>
              <a:rPr lang="ro-RO" sz="2400" dirty="0"/>
              <a:t> și </a:t>
            </a:r>
            <a:r>
              <a:rPr lang="ro-RO" sz="2400" i="1" dirty="0"/>
              <a:t>Filme</a:t>
            </a:r>
            <a:r>
              <a:rPr lang="ro-RO" sz="2400" dirty="0"/>
              <a:t>. Fiecare companie are un </a:t>
            </a:r>
            <a:r>
              <a:rPr lang="ro-RO" sz="2400" b="1" dirty="0"/>
              <a:t>nume</a:t>
            </a:r>
            <a:r>
              <a:rPr lang="ro-RO" sz="2400" dirty="0"/>
              <a:t> și o </a:t>
            </a:r>
            <a:r>
              <a:rPr lang="ro-RO" sz="2400" b="1" dirty="0"/>
              <a:t>țară</a:t>
            </a:r>
            <a:r>
              <a:rPr lang="ro-RO" sz="2400" dirty="0"/>
              <a:t>. O companie poate produce mai multe filme, dar fiecare film este produs de către o singură companie. Fiecare film are un </a:t>
            </a:r>
            <a:r>
              <a:rPr lang="ro-RO" sz="2400" b="1" dirty="0"/>
              <a:t>titlu</a:t>
            </a:r>
            <a:r>
              <a:rPr lang="ro-RO" sz="2400" dirty="0"/>
              <a:t>, o </a:t>
            </a:r>
            <a:r>
              <a:rPr lang="ro-RO" sz="2400" b="1" dirty="0"/>
              <a:t>durată</a:t>
            </a:r>
            <a:r>
              <a:rPr lang="ro-RO" sz="2400" dirty="0"/>
              <a:t>, o </a:t>
            </a:r>
            <a:r>
              <a:rPr lang="ro-RO" sz="2400" b="1" dirty="0"/>
              <a:t>limbă</a:t>
            </a:r>
            <a:r>
              <a:rPr lang="ro-RO" sz="2400" dirty="0"/>
              <a:t> și este produs de către o singură </a:t>
            </a:r>
            <a:r>
              <a:rPr lang="ro-RO" sz="2400" b="1" dirty="0"/>
              <a:t>companie</a:t>
            </a:r>
            <a:r>
              <a:rPr lang="ro-RO" sz="2400" dirty="0"/>
              <a:t>. Utilizatorii pot da note mai multor filme, iar un film poate primi note de la mai mulți utilizatori. Fiecare utilizator are un </a:t>
            </a:r>
            <a:r>
              <a:rPr lang="ro-RO" sz="2400" b="1" dirty="0"/>
              <a:t>nume</a:t>
            </a:r>
            <a:r>
              <a:rPr lang="ro-RO" sz="2400" dirty="0"/>
              <a:t> </a:t>
            </a:r>
            <a:r>
              <a:rPr lang="ro-RO" sz="2400" b="1" dirty="0"/>
              <a:t>de utilizator</a:t>
            </a:r>
            <a:r>
              <a:rPr lang="ro-RO" sz="2400" dirty="0"/>
              <a:t>, o </a:t>
            </a:r>
            <a:r>
              <a:rPr lang="ro-RO" sz="2400" b="1" dirty="0"/>
              <a:t>parolă</a:t>
            </a:r>
            <a:r>
              <a:rPr lang="ro-RO" sz="2400" dirty="0"/>
              <a:t> și o </a:t>
            </a:r>
            <a:r>
              <a:rPr lang="ro-RO" sz="2400" b="1" dirty="0"/>
              <a:t>adresă de email</a:t>
            </a:r>
            <a:r>
              <a:rPr lang="ro-RO" sz="2400" dirty="0"/>
              <a:t>. Numele de utilizator și adresa de email sunt </a:t>
            </a:r>
            <a:r>
              <a:rPr lang="ro-RO" sz="2400" i="1" dirty="0"/>
              <a:t>unice</a:t>
            </a:r>
            <a:r>
              <a:rPr lang="ro-RO" sz="2400" dirty="0"/>
              <a:t>. Pentru numele de utilizator </a:t>
            </a:r>
            <a:r>
              <a:rPr lang="ro-RO" sz="2400" b="1" dirty="0"/>
              <a:t>nu</a:t>
            </a:r>
            <a:r>
              <a:rPr lang="ro-RO" sz="2400" dirty="0"/>
              <a:t> se poate specifica valoarea </a:t>
            </a:r>
            <a:r>
              <a:rPr lang="ro-RO" sz="2400" i="1" dirty="0"/>
              <a:t>NULL</a:t>
            </a:r>
            <a:r>
              <a:rPr lang="ro-RO" sz="2400" dirty="0"/>
              <a:t>. Fiecare utilizator poate da fiecărui film o singură notă. Valoarea notei este cuprinsă între 1 și 10. </a:t>
            </a:r>
          </a:p>
          <a:p>
            <a:endParaRPr lang="ro-RO" dirty="0"/>
          </a:p>
        </p:txBody>
      </p:sp>
    </p:spTree>
    <p:extLst>
      <p:ext uri="{BB962C8B-B14F-4D97-AF65-F5344CB8AC3E}">
        <p14:creationId xmlns:p14="http://schemas.microsoft.com/office/powerpoint/2010/main" val="96751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3047E-FBFD-4F79-BCA5-10E69740F030}"/>
              </a:ext>
            </a:extLst>
          </p:cNvPr>
          <p:cNvSpPr>
            <a:spLocks noGrp="1"/>
          </p:cNvSpPr>
          <p:nvPr>
            <p:ph type="title"/>
          </p:nvPr>
        </p:nvSpPr>
        <p:spPr>
          <a:xfrm>
            <a:off x="989400" y="395289"/>
            <a:ext cx="10213200" cy="1112836"/>
          </a:xfrm>
        </p:spPr>
        <p:txBody>
          <a:bodyPr/>
          <a:lstStyle/>
          <a:p>
            <a:r>
              <a:rPr lang="en-US" dirty="0" err="1">
                <a:latin typeface="+mn-lt"/>
              </a:rPr>
              <a:t>Rezolvare</a:t>
            </a:r>
            <a:r>
              <a:rPr lang="en-US" dirty="0">
                <a:latin typeface="+mn-lt"/>
              </a:rPr>
              <a:t>: </a:t>
            </a:r>
            <a:r>
              <a:rPr lang="en-US" dirty="0" err="1">
                <a:latin typeface="+mn-lt"/>
              </a:rPr>
              <a:t>diagrama</a:t>
            </a:r>
            <a:r>
              <a:rPr lang="en-US" dirty="0">
                <a:latin typeface="+mn-lt"/>
              </a:rPr>
              <a:t> </a:t>
            </a:r>
            <a:r>
              <a:rPr lang="en-US" dirty="0" err="1">
                <a:latin typeface="+mn-lt"/>
              </a:rPr>
              <a:t>bazei</a:t>
            </a:r>
            <a:r>
              <a:rPr lang="en-US" dirty="0">
                <a:latin typeface="+mn-lt"/>
              </a:rPr>
              <a:t> de date </a:t>
            </a:r>
            <a:r>
              <a:rPr lang="en-US" dirty="0" err="1">
                <a:latin typeface="+mn-lt"/>
              </a:rPr>
              <a:t>rela</a:t>
            </a:r>
            <a:r>
              <a:rPr lang="ro-RO" dirty="0">
                <a:latin typeface="+mn-lt"/>
              </a:rPr>
              <a:t>ționale</a:t>
            </a:r>
            <a:endParaRPr lang="en-US" dirty="0">
              <a:latin typeface="+mn-lt"/>
            </a:endParaRPr>
          </a:p>
        </p:txBody>
      </p:sp>
      <p:sp>
        <p:nvSpPr>
          <p:cNvPr id="10" name="Slide Number Placeholder 49">
            <a:extLst>
              <a:ext uri="{FF2B5EF4-FFF2-40B4-BE49-F238E27FC236}">
                <a16:creationId xmlns:a16="http://schemas.microsoft.com/office/drawing/2014/main" id="{01A08221-B499-4596-AFD9-5C9812459168}"/>
              </a:ext>
            </a:extLst>
          </p:cNvPr>
          <p:cNvSpPr>
            <a:spLocks noGrp="1"/>
          </p:cNvSpPr>
          <p:nvPr>
            <p:ph type="sldNum" sz="quarter" idx="12"/>
          </p:nvPr>
        </p:nvSpPr>
        <p:spPr>
          <a:xfrm>
            <a:off x="9982800" y="6357600"/>
            <a:ext cx="1760150" cy="460800"/>
          </a:xfrm>
        </p:spPr>
        <p:txBody>
          <a:bodyPr/>
          <a:lstStyle/>
          <a:p>
            <a:fld id="{D39607A7-8386-47DB-8578-DDEDD194E5D4}" type="slidenum">
              <a:rPr lang="en-US" smtClean="0"/>
              <a:pPr/>
              <a:t>4</a:t>
            </a:fld>
            <a:endParaRPr lang="en-US" dirty="0"/>
          </a:p>
        </p:txBody>
      </p:sp>
      <p:pic>
        <p:nvPicPr>
          <p:cNvPr id="11" name="Content Placeholder 10">
            <a:extLst>
              <a:ext uri="{FF2B5EF4-FFF2-40B4-BE49-F238E27FC236}">
                <a16:creationId xmlns:a16="http://schemas.microsoft.com/office/drawing/2014/main" id="{9C0D9EBA-6288-5BA4-DFD7-EA27D7C5CA54}"/>
              </a:ext>
            </a:extLst>
          </p:cNvPr>
          <p:cNvPicPr>
            <a:picLocks noGrp="1" noChangeAspect="1"/>
          </p:cNvPicPr>
          <p:nvPr>
            <p:ph idx="1"/>
          </p:nvPr>
        </p:nvPicPr>
        <p:blipFill>
          <a:blip r:embed="rId2"/>
          <a:stretch>
            <a:fillRect/>
          </a:stretch>
        </p:blipFill>
        <p:spPr>
          <a:xfrm>
            <a:off x="1117246" y="2660849"/>
            <a:ext cx="8543925" cy="2438400"/>
          </a:xfrm>
        </p:spPr>
      </p:pic>
      <p:cxnSp>
        <p:nvCxnSpPr>
          <p:cNvPr id="13" name="Straight Arrow Connector 12">
            <a:extLst>
              <a:ext uri="{FF2B5EF4-FFF2-40B4-BE49-F238E27FC236}">
                <a16:creationId xmlns:a16="http://schemas.microsoft.com/office/drawing/2014/main" id="{9C7FF996-5E3F-B97E-FCC5-CFA340E9FEE0}"/>
              </a:ext>
            </a:extLst>
          </p:cNvPr>
          <p:cNvCxnSpPr>
            <a:cxnSpLocks/>
          </p:cNvCxnSpPr>
          <p:nvPr/>
        </p:nvCxnSpPr>
        <p:spPr>
          <a:xfrm flipH="1">
            <a:off x="8505170" y="2539235"/>
            <a:ext cx="941758" cy="54153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E7251AB-A789-E450-6F87-E849AECE02CE}"/>
              </a:ext>
            </a:extLst>
          </p:cNvPr>
          <p:cNvSpPr txBox="1"/>
          <p:nvPr/>
        </p:nvSpPr>
        <p:spPr>
          <a:xfrm>
            <a:off x="9339308" y="2332697"/>
            <a:ext cx="2015231" cy="369332"/>
          </a:xfrm>
          <a:prstGeom prst="rect">
            <a:avLst/>
          </a:prstGeom>
          <a:noFill/>
        </p:spPr>
        <p:txBody>
          <a:bodyPr wrap="square" rtlCol="0">
            <a:spAutoFit/>
          </a:bodyPr>
          <a:lstStyle/>
          <a:p>
            <a:r>
              <a:rPr lang="ro-RO" dirty="0"/>
              <a:t> numele tabelului</a:t>
            </a:r>
          </a:p>
        </p:txBody>
      </p:sp>
      <p:cxnSp>
        <p:nvCxnSpPr>
          <p:cNvPr id="17" name="Straight Arrow Connector 16">
            <a:extLst>
              <a:ext uri="{FF2B5EF4-FFF2-40B4-BE49-F238E27FC236}">
                <a16:creationId xmlns:a16="http://schemas.microsoft.com/office/drawing/2014/main" id="{755BC55A-CD48-293C-E363-3B256670AA7C}"/>
              </a:ext>
            </a:extLst>
          </p:cNvPr>
          <p:cNvCxnSpPr/>
          <p:nvPr/>
        </p:nvCxnSpPr>
        <p:spPr>
          <a:xfrm>
            <a:off x="4804692" y="2352804"/>
            <a:ext cx="914400" cy="914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382B93DF-5CC8-917F-DEE2-980D771D8E09}"/>
              </a:ext>
            </a:extLst>
          </p:cNvPr>
          <p:cNvSpPr txBox="1"/>
          <p:nvPr/>
        </p:nvSpPr>
        <p:spPr>
          <a:xfrm>
            <a:off x="3797076" y="1983472"/>
            <a:ext cx="3873231" cy="369332"/>
          </a:xfrm>
          <a:prstGeom prst="rect">
            <a:avLst/>
          </a:prstGeom>
          <a:noFill/>
        </p:spPr>
        <p:txBody>
          <a:bodyPr wrap="square" rtlCol="0">
            <a:spAutoFit/>
          </a:bodyPr>
          <a:lstStyle/>
          <a:p>
            <a:r>
              <a:rPr lang="ro-RO" dirty="0"/>
              <a:t> cheia primară (primary key)</a:t>
            </a:r>
          </a:p>
        </p:txBody>
      </p:sp>
      <p:cxnSp>
        <p:nvCxnSpPr>
          <p:cNvPr id="20" name="Straight Arrow Connector 19">
            <a:extLst>
              <a:ext uri="{FF2B5EF4-FFF2-40B4-BE49-F238E27FC236}">
                <a16:creationId xmlns:a16="http://schemas.microsoft.com/office/drawing/2014/main" id="{CC6BCE21-E2CC-0492-52E4-2FCC53E2D164}"/>
              </a:ext>
            </a:extLst>
          </p:cNvPr>
          <p:cNvCxnSpPr>
            <a:cxnSpLocks/>
          </p:cNvCxnSpPr>
          <p:nvPr/>
        </p:nvCxnSpPr>
        <p:spPr>
          <a:xfrm flipV="1">
            <a:off x="2530829" y="3338003"/>
            <a:ext cx="798298" cy="20692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2D33AA0D-1305-45C6-711C-8E1EB11F9938}"/>
              </a:ext>
            </a:extLst>
          </p:cNvPr>
          <p:cNvSpPr txBox="1"/>
          <p:nvPr/>
        </p:nvSpPr>
        <p:spPr>
          <a:xfrm>
            <a:off x="1523213" y="5407294"/>
            <a:ext cx="3281479" cy="369332"/>
          </a:xfrm>
          <a:prstGeom prst="rect">
            <a:avLst/>
          </a:prstGeom>
          <a:noFill/>
        </p:spPr>
        <p:txBody>
          <a:bodyPr wrap="square" rtlCol="0">
            <a:spAutoFit/>
          </a:bodyPr>
          <a:lstStyle/>
          <a:p>
            <a:r>
              <a:rPr lang="ro-RO" dirty="0"/>
              <a:t> cheia externă (foreign key)</a:t>
            </a:r>
          </a:p>
        </p:txBody>
      </p:sp>
      <p:sp>
        <p:nvSpPr>
          <p:cNvPr id="24" name="TextBox 23">
            <a:extLst>
              <a:ext uri="{FF2B5EF4-FFF2-40B4-BE49-F238E27FC236}">
                <a16:creationId xmlns:a16="http://schemas.microsoft.com/office/drawing/2014/main" id="{D52681B8-A58D-C2D7-8893-FFE553D2EF07}"/>
              </a:ext>
            </a:extLst>
          </p:cNvPr>
          <p:cNvSpPr txBox="1"/>
          <p:nvPr/>
        </p:nvSpPr>
        <p:spPr>
          <a:xfrm>
            <a:off x="2929978" y="4229212"/>
            <a:ext cx="2509582" cy="646331"/>
          </a:xfrm>
          <a:prstGeom prst="rect">
            <a:avLst/>
          </a:prstGeom>
          <a:noFill/>
        </p:spPr>
        <p:txBody>
          <a:bodyPr wrap="square" rtlCol="0">
            <a:spAutoFit/>
          </a:bodyPr>
          <a:lstStyle/>
          <a:p>
            <a:pPr algn="ctr"/>
            <a:r>
              <a:rPr lang="ro-RO" dirty="0"/>
              <a:t> tabel de legătură (relație many to many) </a:t>
            </a:r>
          </a:p>
        </p:txBody>
      </p:sp>
    </p:spTree>
    <p:extLst>
      <p:ext uri="{BB962C8B-B14F-4D97-AF65-F5344CB8AC3E}">
        <p14:creationId xmlns:p14="http://schemas.microsoft.com/office/powerpoint/2010/main" val="152738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În primul rând, este necesară crearea unei noi baze de date, utilizând instrucțiunea </a:t>
            </a:r>
            <a:r>
              <a:rPr lang="ro-RO" b="1" i="1" dirty="0"/>
              <a:t>CREATE DATABASE</a:t>
            </a:r>
            <a:r>
              <a:rPr lang="ro-RO" dirty="0"/>
              <a:t>:</a:t>
            </a:r>
            <a:endParaRPr lang="en-US" dirty="0"/>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en-US" dirty="0" err="1">
                <a:solidFill>
                  <a:schemeClr val="accent1">
                    <a:lumMod val="75000"/>
                    <a:alpha val="60000"/>
                  </a:schemeClr>
                </a:solidFill>
              </a:rPr>
              <a:t>bazei</a:t>
            </a:r>
            <a:r>
              <a:rPr lang="en-US" dirty="0">
                <a:solidFill>
                  <a:schemeClr val="accent1">
                    <a:lumMod val="75000"/>
                    <a:alpha val="60000"/>
                  </a:schemeClr>
                </a:solidFill>
              </a:rPr>
              <a:t> de date</a:t>
            </a:r>
            <a:r>
              <a:rPr lang="ro-RO" dirty="0">
                <a:solidFill>
                  <a:schemeClr val="accent1">
                    <a:lumMod val="75000"/>
                    <a:alpha val="60000"/>
                  </a:schemeClr>
                </a:solidFill>
              </a:rPr>
              <a:t> cu numele </a:t>
            </a:r>
            <a:r>
              <a:rPr lang="ro-RO" i="1" dirty="0">
                <a:solidFill>
                  <a:schemeClr val="accent1">
                    <a:lumMod val="75000"/>
                    <a:alpha val="60000"/>
                  </a:schemeClr>
                </a:solidFill>
              </a:rPr>
              <a:t>ProblemaFilme</a:t>
            </a:r>
            <a:endParaRPr lang="en-US" i="1" dirty="0">
              <a:solidFill>
                <a:schemeClr val="accent1">
                  <a:lumMod val="75000"/>
                  <a:alpha val="60000"/>
                </a:schemeClr>
              </a:solidFill>
            </a:endParaRP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CREATE DATABASE </a:t>
            </a:r>
            <a:r>
              <a:rPr lang="en-US" dirty="0" err="1">
                <a:latin typeface="Consolas" panose="020B0609020204030204" pitchFamily="49" charset="0"/>
              </a:rPr>
              <a:t>ProblemaFilme</a:t>
            </a:r>
            <a:r>
              <a:rPr lang="en-US" dirty="0">
                <a:latin typeface="Consolas" panose="020B0609020204030204" pitchFamily="49" charset="0"/>
              </a:rPr>
              <a:t>;</a:t>
            </a:r>
          </a:p>
          <a:p>
            <a:pPr marL="0" indent="0">
              <a:buNone/>
            </a:pPr>
            <a:r>
              <a:rPr lang="ro-RO" dirty="0">
                <a:latin typeface="Consolas" panose="020B0609020204030204" pitchFamily="49" charset="0"/>
              </a:rPr>
              <a:t>	</a:t>
            </a:r>
            <a:r>
              <a:rPr lang="en-US" dirty="0">
                <a:solidFill>
                  <a:srgbClr val="0000FF">
                    <a:alpha val="60000"/>
                  </a:srgbClr>
                </a:solidFill>
                <a:latin typeface="Consolas" panose="020B0609020204030204" pitchFamily="49" charset="0"/>
              </a:rPr>
              <a:t>GO</a:t>
            </a:r>
          </a:p>
          <a:p>
            <a:endParaRPr lang="ro-RO" dirty="0"/>
          </a:p>
        </p:txBody>
      </p:sp>
    </p:spTree>
    <p:extLst>
      <p:ext uri="{BB962C8B-B14F-4D97-AF65-F5344CB8AC3E}">
        <p14:creationId xmlns:p14="http://schemas.microsoft.com/office/powerpoint/2010/main" val="177131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213200" cy="4954572"/>
          </a:xfrm>
        </p:spPr>
        <p:txBody>
          <a:bodyPr>
            <a:normAutofit/>
          </a:bodyPr>
          <a:lstStyle/>
          <a:p>
            <a:r>
              <a:rPr lang="ro-RO" dirty="0"/>
              <a:t>După ce am creat baza de date, este necesar să ne conectăm la aceasta înainte de a crea tabelele folosind instrucțiunea </a:t>
            </a:r>
            <a:r>
              <a:rPr lang="ro-RO" b="1" i="1" dirty="0"/>
              <a:t>USE</a:t>
            </a:r>
            <a:r>
              <a:rPr lang="ro-RO" dirty="0"/>
              <a:t>:</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Conectarea</a:t>
            </a:r>
            <a:r>
              <a:rPr lang="en-US" dirty="0">
                <a:solidFill>
                  <a:schemeClr val="accent1">
                    <a:lumMod val="75000"/>
                    <a:alpha val="60000"/>
                  </a:schemeClr>
                </a:solidFill>
              </a:rPr>
              <a:t> la </a:t>
            </a:r>
            <a:r>
              <a:rPr lang="en-US" dirty="0" err="1">
                <a:solidFill>
                  <a:schemeClr val="accent1">
                    <a:lumMod val="75000"/>
                    <a:alpha val="60000"/>
                  </a:schemeClr>
                </a:solidFill>
              </a:rPr>
              <a:t>baza</a:t>
            </a:r>
            <a:r>
              <a:rPr lang="en-US" dirty="0">
                <a:solidFill>
                  <a:schemeClr val="accent1">
                    <a:lumMod val="75000"/>
                    <a:alpha val="60000"/>
                  </a:schemeClr>
                </a:solidFill>
              </a:rPr>
              <a:t> de date</a:t>
            </a:r>
          </a:p>
          <a:p>
            <a:pPr marL="0" indent="0">
              <a:buNone/>
            </a:pPr>
            <a:r>
              <a:rPr lang="ro-RO" dirty="0"/>
              <a:t>	</a:t>
            </a:r>
            <a:r>
              <a:rPr lang="en-US" dirty="0">
                <a:solidFill>
                  <a:srgbClr val="0000FF">
                    <a:alpha val="60000"/>
                  </a:srgbClr>
                </a:solidFill>
                <a:latin typeface="Consolas" panose="020B0609020204030204" pitchFamily="49" charset="0"/>
              </a:rPr>
              <a:t>USE</a:t>
            </a:r>
            <a:r>
              <a:rPr lang="en-US" dirty="0">
                <a:latin typeface="Consolas" panose="020B0609020204030204" pitchFamily="49" charset="0"/>
              </a:rPr>
              <a:t> </a:t>
            </a:r>
            <a:r>
              <a:rPr lang="en-US" dirty="0" err="1">
                <a:latin typeface="Consolas" panose="020B0609020204030204" pitchFamily="49" charset="0"/>
              </a:rPr>
              <a:t>ProblemaFilme</a:t>
            </a:r>
            <a:r>
              <a:rPr lang="en-US" dirty="0">
                <a:latin typeface="Consolas" panose="020B0609020204030204" pitchFamily="49" charset="0"/>
              </a:rPr>
              <a:t>;</a:t>
            </a:r>
          </a:p>
          <a:p>
            <a:r>
              <a:rPr lang="ro-RO" dirty="0">
                <a:solidFill>
                  <a:srgbClr val="FF0000">
                    <a:alpha val="60000"/>
                  </a:srgbClr>
                </a:solidFill>
              </a:rPr>
              <a:t>!!!Dacă </a:t>
            </a:r>
            <a:r>
              <a:rPr lang="ro-RO" b="1" dirty="0">
                <a:solidFill>
                  <a:srgbClr val="FF0000">
                    <a:alpha val="60000"/>
                  </a:srgbClr>
                </a:solidFill>
              </a:rPr>
              <a:t>nu</a:t>
            </a:r>
            <a:r>
              <a:rPr lang="ro-RO" dirty="0">
                <a:solidFill>
                  <a:srgbClr val="FF0000">
                    <a:alpha val="60000"/>
                  </a:srgbClr>
                </a:solidFill>
              </a:rPr>
              <a:t> ne conectăm la baza de date </a:t>
            </a:r>
            <a:r>
              <a:rPr lang="ro-RO" i="1" dirty="0">
                <a:solidFill>
                  <a:srgbClr val="FF0000">
                    <a:alpha val="60000"/>
                  </a:srgbClr>
                </a:solidFill>
              </a:rPr>
              <a:t>ProblemaFilme</a:t>
            </a:r>
            <a:r>
              <a:rPr lang="ro-RO" dirty="0">
                <a:solidFill>
                  <a:srgbClr val="FF0000">
                    <a:alpha val="60000"/>
                  </a:srgbClr>
                </a:solidFill>
              </a:rPr>
              <a:t>, instrucțiunile de creare a tabelelor ce urmează a fi executate vor crea aceste tabele în contextul unei alte baze de date (de obicei în baza de date </a:t>
            </a:r>
            <a:r>
              <a:rPr lang="ro-RO" i="1" dirty="0">
                <a:solidFill>
                  <a:srgbClr val="FF0000">
                    <a:alpha val="60000"/>
                  </a:srgbClr>
                </a:solidFill>
              </a:rPr>
              <a:t>master</a:t>
            </a:r>
            <a:r>
              <a:rPr lang="ro-RO" dirty="0">
                <a:solidFill>
                  <a:srgbClr val="FF0000">
                    <a:alpha val="60000"/>
                  </a:srgbClr>
                </a:solidFill>
              </a:rPr>
              <a:t>)</a:t>
            </a:r>
          </a:p>
        </p:txBody>
      </p:sp>
    </p:spTree>
    <p:extLst>
      <p:ext uri="{BB962C8B-B14F-4D97-AF65-F5344CB8AC3E}">
        <p14:creationId xmlns:p14="http://schemas.microsoft.com/office/powerpoint/2010/main" val="4263177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882868" y="1711209"/>
            <a:ext cx="10569326" cy="4954572"/>
          </a:xfrm>
        </p:spPr>
        <p:txBody>
          <a:bodyPr>
            <a:normAutofit/>
          </a:bodyPr>
          <a:lstStyle/>
          <a:p>
            <a:r>
              <a:rPr lang="ro-RO" dirty="0"/>
              <a:t>Urmează crearea primului tabel din baza de date </a:t>
            </a:r>
            <a:r>
              <a:rPr lang="ro-RO" i="1" dirty="0"/>
              <a:t>ProblemaFilme</a:t>
            </a:r>
            <a:r>
              <a:rPr lang="ro-RO" dirty="0"/>
              <a:t>, folosind instrucțiunea </a:t>
            </a:r>
            <a:r>
              <a:rPr lang="ro-RO" b="1" i="1" dirty="0"/>
              <a:t>CREATE TABLE</a:t>
            </a:r>
            <a:r>
              <a:rPr lang="ro-RO" dirty="0"/>
              <a:t>:</a:t>
            </a:r>
          </a:p>
          <a:p>
            <a:pPr marL="0" indent="0">
              <a:buNone/>
            </a:pPr>
            <a:r>
              <a:rPr lang="en-US"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Utilizatori</a:t>
            </a:r>
          </a:p>
          <a:p>
            <a:pPr marL="320040" lvl="1" indent="0">
              <a:buNone/>
            </a:pPr>
            <a:r>
              <a:rPr lang="ro-RO" i="0" dirty="0">
                <a:solidFill>
                  <a:srgbClr val="0000FF">
                    <a:alpha val="60000"/>
                  </a:srgbClr>
                </a:solidFill>
                <a:latin typeface="Consolas" panose="020B0609020204030204" pitchFamily="49" charset="0"/>
              </a:rPr>
              <a:t>	</a:t>
            </a:r>
            <a:r>
              <a:rPr lang="en-US" i="0" dirty="0">
                <a:solidFill>
                  <a:srgbClr val="0000FF">
                    <a:alpha val="60000"/>
                  </a:srgbClr>
                </a:solidFill>
                <a:latin typeface="Consolas" panose="020B0609020204030204" pitchFamily="49" charset="0"/>
              </a:rPr>
              <a:t>CREATE TABLE </a:t>
            </a:r>
            <a:r>
              <a:rPr lang="en-US" i="0" dirty="0" err="1">
                <a:latin typeface="Consolas" panose="020B0609020204030204" pitchFamily="49" charset="0"/>
              </a:rPr>
              <a:t>Utilizatori</a:t>
            </a:r>
            <a:endParaRPr lang="ro-RO" i="0" dirty="0">
              <a:latin typeface="Consolas" panose="020B0609020204030204" pitchFamily="49" charset="0"/>
            </a:endParaRPr>
          </a:p>
          <a:p>
            <a:pPr marL="320040" lvl="1" indent="0">
              <a:buNone/>
            </a:pPr>
            <a:r>
              <a:rPr lang="ro-RO" dirty="0">
                <a:latin typeface="Consolas" panose="020B0609020204030204" pitchFamily="49" charset="0"/>
              </a:rPr>
              <a:t>	</a:t>
            </a:r>
            <a:r>
              <a:rPr lang="en-US" dirty="0">
                <a:latin typeface="Consolas" panose="020B0609020204030204" pitchFamily="49" charset="0"/>
              </a:rPr>
              <a:t>(</a:t>
            </a:r>
            <a:r>
              <a:rPr lang="en-US" i="0" dirty="0" err="1">
                <a:latin typeface="Consolas" panose="020B0609020204030204" pitchFamily="49" charset="0"/>
              </a:rPr>
              <a:t>cod_u</a:t>
            </a:r>
            <a:r>
              <a:rPr lang="en-US" dirty="0">
                <a:latin typeface="Consolas" panose="020B0609020204030204" pitchFamily="49" charset="0"/>
              </a:rPr>
              <a:t> </a:t>
            </a:r>
            <a:r>
              <a:rPr lang="en-US" i="0" dirty="0">
                <a:solidFill>
                  <a:srgbClr val="0000FF">
                    <a:alpha val="60000"/>
                  </a:srgbClr>
                </a:solidFill>
                <a:latin typeface="Consolas" panose="020B0609020204030204" pitchFamily="49" charset="0"/>
              </a:rPr>
              <a:t>INT </a:t>
            </a:r>
            <a:r>
              <a:rPr lang="en-US" i="0" dirty="0">
                <a:solidFill>
                  <a:srgbClr val="0000FF">
                    <a:alpha val="60000"/>
                  </a:srgbClr>
                </a:solidFill>
                <a:highlight>
                  <a:srgbClr val="FFFF00"/>
                </a:highlight>
                <a:latin typeface="Consolas" panose="020B0609020204030204" pitchFamily="49" charset="0"/>
              </a:rPr>
              <a:t>PRIMARY KEY</a:t>
            </a:r>
            <a:r>
              <a:rPr lang="en-US" i="0" dirty="0">
                <a:solidFill>
                  <a:srgbClr val="0000FF">
                    <a:alpha val="60000"/>
                  </a:srgbClr>
                </a:solidFill>
                <a:latin typeface="Consolas" panose="020B0609020204030204" pitchFamily="49" charset="0"/>
              </a:rPr>
              <a:t> </a:t>
            </a:r>
            <a:r>
              <a:rPr lang="en-US" i="0" dirty="0">
                <a:solidFill>
                  <a:srgbClr val="0000FF">
                    <a:alpha val="60000"/>
                  </a:srgbClr>
                </a:solidFill>
                <a:highlight>
                  <a:srgbClr val="00FF00"/>
                </a:highlight>
                <a:latin typeface="Consolas" panose="020B0609020204030204" pitchFamily="49" charset="0"/>
              </a:rPr>
              <a:t>IDENTITY</a:t>
            </a:r>
            <a:r>
              <a:rPr lang="en-US"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nume_u</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 </a:t>
            </a:r>
            <a:r>
              <a:rPr lang="en-US" sz="1800" dirty="0">
                <a:solidFill>
                  <a:srgbClr val="0000FF">
                    <a:alpha val="60000"/>
                  </a:srgbClr>
                </a:solidFill>
                <a:highlight>
                  <a:srgbClr val="FFFF00"/>
                </a:highlight>
                <a:latin typeface="Consolas" panose="020B0609020204030204" pitchFamily="49" charset="0"/>
              </a:rPr>
              <a:t>NOT NULL</a:t>
            </a:r>
            <a:r>
              <a:rPr lang="en-US" sz="1800" dirty="0">
                <a:solidFill>
                  <a:srgbClr val="0000FF">
                    <a:alpha val="60000"/>
                  </a:srgbClr>
                </a:solidFill>
                <a:latin typeface="Consolas" panose="020B0609020204030204" pitchFamily="49" charset="0"/>
              </a:rPr>
              <a:t> </a:t>
            </a:r>
            <a:r>
              <a:rPr lang="en-US" sz="1800" dirty="0">
                <a:solidFill>
                  <a:srgbClr val="0000FF">
                    <a:alpha val="60000"/>
                  </a:srgbClr>
                </a:solidFill>
                <a:highlight>
                  <a:srgbClr val="FFFF00"/>
                </a:highlight>
                <a:latin typeface="Consolas" panose="020B0609020204030204" pitchFamily="49" charset="0"/>
              </a:rPr>
              <a:t>UNIQUE</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parola</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a:latin typeface="Consolas" panose="020B0609020204030204" pitchFamily="49" charset="0"/>
              </a:rPr>
              <a:t>email </a:t>
            </a:r>
            <a:r>
              <a:rPr lang="en-US" sz="1800" dirty="0">
                <a:solidFill>
                  <a:srgbClr val="0000FF">
                    <a:alpha val="60000"/>
                  </a:srgbClr>
                </a:solidFill>
                <a:latin typeface="Consolas" panose="020B0609020204030204" pitchFamily="49" charset="0"/>
              </a:rPr>
              <a:t>VARCHAR(100) </a:t>
            </a:r>
          </a:p>
          <a:p>
            <a:pPr marL="0" indent="0">
              <a:buNone/>
            </a:pPr>
            <a:r>
              <a:rPr lang="ro-RO" sz="1800" dirty="0">
                <a:latin typeface="Consolas" panose="020B0609020204030204" pitchFamily="49" charset="0"/>
              </a:rPr>
              <a:t>	</a:t>
            </a:r>
            <a:r>
              <a:rPr lang="en-US" sz="1800" dirty="0">
                <a:latin typeface="Consolas" panose="020B0609020204030204" pitchFamily="49" charset="0"/>
              </a:rPr>
              <a:t>);</a:t>
            </a:r>
          </a:p>
        </p:txBody>
      </p:sp>
      <p:cxnSp>
        <p:nvCxnSpPr>
          <p:cNvPr id="19" name="Straight Arrow Connector 18">
            <a:extLst>
              <a:ext uri="{FF2B5EF4-FFF2-40B4-BE49-F238E27FC236}">
                <a16:creationId xmlns:a16="http://schemas.microsoft.com/office/drawing/2014/main" id="{D876C20B-04C9-5619-3E3C-0B0CFDDD8980}"/>
              </a:ext>
            </a:extLst>
          </p:cNvPr>
          <p:cNvCxnSpPr>
            <a:cxnSpLocks/>
          </p:cNvCxnSpPr>
          <p:nvPr/>
        </p:nvCxnSpPr>
        <p:spPr>
          <a:xfrm flipH="1">
            <a:off x="6302034" y="3513270"/>
            <a:ext cx="1206625" cy="24845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22" name="TextBox 21">
            <a:extLst>
              <a:ext uri="{FF2B5EF4-FFF2-40B4-BE49-F238E27FC236}">
                <a16:creationId xmlns:a16="http://schemas.microsoft.com/office/drawing/2014/main" id="{0138146C-8417-9FAE-848B-F322A93A01FA}"/>
              </a:ext>
            </a:extLst>
          </p:cNvPr>
          <p:cNvSpPr txBox="1"/>
          <p:nvPr/>
        </p:nvSpPr>
        <p:spPr>
          <a:xfrm>
            <a:off x="7508659" y="3328613"/>
            <a:ext cx="2916314" cy="369332"/>
          </a:xfrm>
          <a:prstGeom prst="rect">
            <a:avLst/>
          </a:prstGeom>
          <a:noFill/>
        </p:spPr>
        <p:txBody>
          <a:bodyPr wrap="square" rtlCol="0">
            <a:spAutoFit/>
          </a:bodyPr>
          <a:lstStyle/>
          <a:p>
            <a:r>
              <a:rPr lang="ro-RO" dirty="0"/>
              <a:t>Constrângere </a:t>
            </a:r>
            <a:r>
              <a:rPr lang="ro-RO" dirty="0">
                <a:solidFill>
                  <a:srgbClr val="0000FF"/>
                </a:solidFill>
              </a:rPr>
              <a:t>UNIQUE</a:t>
            </a:r>
          </a:p>
        </p:txBody>
      </p:sp>
      <p:sp>
        <p:nvSpPr>
          <p:cNvPr id="27" name="TextBox 26">
            <a:extLst>
              <a:ext uri="{FF2B5EF4-FFF2-40B4-BE49-F238E27FC236}">
                <a16:creationId xmlns:a16="http://schemas.microsoft.com/office/drawing/2014/main" id="{629128A8-E79B-1D38-85FD-D1D592A6B2F7}"/>
              </a:ext>
            </a:extLst>
          </p:cNvPr>
          <p:cNvSpPr txBox="1"/>
          <p:nvPr/>
        </p:nvSpPr>
        <p:spPr>
          <a:xfrm>
            <a:off x="7119891" y="2474537"/>
            <a:ext cx="3264763" cy="369332"/>
          </a:xfrm>
          <a:prstGeom prst="rect">
            <a:avLst/>
          </a:prstGeom>
          <a:noFill/>
        </p:spPr>
        <p:txBody>
          <a:bodyPr wrap="square" rtlCol="0">
            <a:spAutoFit/>
          </a:bodyPr>
          <a:lstStyle/>
          <a:p>
            <a:r>
              <a:rPr lang="ro-RO" dirty="0"/>
              <a:t>Constrângere </a:t>
            </a:r>
            <a:r>
              <a:rPr lang="ro-RO" dirty="0">
                <a:solidFill>
                  <a:srgbClr val="0000FF"/>
                </a:solidFill>
              </a:rPr>
              <a:t>PRIMARY KEY</a:t>
            </a:r>
          </a:p>
        </p:txBody>
      </p:sp>
      <p:cxnSp>
        <p:nvCxnSpPr>
          <p:cNvPr id="29" name="Straight Arrow Connector 28">
            <a:extLst>
              <a:ext uri="{FF2B5EF4-FFF2-40B4-BE49-F238E27FC236}">
                <a16:creationId xmlns:a16="http://schemas.microsoft.com/office/drawing/2014/main" id="{5375AC40-4D16-81D2-5535-A51BB2599129}"/>
              </a:ext>
            </a:extLst>
          </p:cNvPr>
          <p:cNvCxnSpPr>
            <a:cxnSpLocks/>
          </p:cNvCxnSpPr>
          <p:nvPr/>
        </p:nvCxnSpPr>
        <p:spPr>
          <a:xfrm flipH="1">
            <a:off x="4375950" y="2714818"/>
            <a:ext cx="2743941" cy="57755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a:extLst>
              <a:ext uri="{FF2B5EF4-FFF2-40B4-BE49-F238E27FC236}">
                <a16:creationId xmlns:a16="http://schemas.microsoft.com/office/drawing/2014/main" id="{3892F117-08FB-1E3C-D043-81166AD79E87}"/>
              </a:ext>
            </a:extLst>
          </p:cNvPr>
          <p:cNvCxnSpPr>
            <a:cxnSpLocks/>
          </p:cNvCxnSpPr>
          <p:nvPr/>
        </p:nvCxnSpPr>
        <p:spPr>
          <a:xfrm flipH="1" flipV="1">
            <a:off x="5167172" y="4048740"/>
            <a:ext cx="1161495" cy="6070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20A702AD-C9E3-CF16-154D-7F3173E93039}"/>
              </a:ext>
            </a:extLst>
          </p:cNvPr>
          <p:cNvSpPr txBox="1"/>
          <p:nvPr/>
        </p:nvSpPr>
        <p:spPr>
          <a:xfrm>
            <a:off x="6328667" y="4454996"/>
            <a:ext cx="2916314" cy="369332"/>
          </a:xfrm>
          <a:prstGeom prst="rect">
            <a:avLst/>
          </a:prstGeom>
          <a:noFill/>
        </p:spPr>
        <p:txBody>
          <a:bodyPr wrap="square" rtlCol="0">
            <a:spAutoFit/>
          </a:bodyPr>
          <a:lstStyle/>
          <a:p>
            <a:r>
              <a:rPr lang="ro-RO" dirty="0"/>
              <a:t>Constrângere </a:t>
            </a:r>
            <a:r>
              <a:rPr lang="ro-RO" dirty="0">
                <a:solidFill>
                  <a:srgbClr val="0000FF"/>
                </a:solidFill>
              </a:rPr>
              <a:t>NOT NULL</a:t>
            </a:r>
          </a:p>
        </p:txBody>
      </p:sp>
      <p:cxnSp>
        <p:nvCxnSpPr>
          <p:cNvPr id="36" name="Straight Arrow Connector 35">
            <a:extLst>
              <a:ext uri="{FF2B5EF4-FFF2-40B4-BE49-F238E27FC236}">
                <a16:creationId xmlns:a16="http://schemas.microsoft.com/office/drawing/2014/main" id="{4A56A4F6-C5C3-7BA2-C037-67B2766520FB}"/>
              </a:ext>
            </a:extLst>
          </p:cNvPr>
          <p:cNvCxnSpPr>
            <a:cxnSpLocks/>
          </p:cNvCxnSpPr>
          <p:nvPr/>
        </p:nvCxnSpPr>
        <p:spPr>
          <a:xfrm flipH="1">
            <a:off x="5868140" y="3064709"/>
            <a:ext cx="1251751" cy="2626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E4B142EF-1ECF-3AED-C1E2-8BC0F4F6005C}"/>
              </a:ext>
            </a:extLst>
          </p:cNvPr>
          <p:cNvSpPr txBox="1"/>
          <p:nvPr/>
        </p:nvSpPr>
        <p:spPr>
          <a:xfrm>
            <a:off x="7119891" y="2839531"/>
            <a:ext cx="2916314" cy="369332"/>
          </a:xfrm>
          <a:prstGeom prst="rect">
            <a:avLst/>
          </a:prstGeom>
          <a:noFill/>
        </p:spPr>
        <p:txBody>
          <a:bodyPr wrap="square" rtlCol="0">
            <a:spAutoFit/>
          </a:bodyPr>
          <a:lstStyle/>
          <a:p>
            <a:r>
              <a:rPr lang="en-US" dirty="0" err="1"/>
              <a:t>Proprietate</a:t>
            </a:r>
            <a:r>
              <a:rPr lang="ro-RO" dirty="0"/>
              <a:t> </a:t>
            </a:r>
            <a:r>
              <a:rPr lang="en-US" dirty="0">
                <a:solidFill>
                  <a:srgbClr val="0000FF"/>
                </a:solidFill>
              </a:rPr>
              <a:t>IDENTITY</a:t>
            </a:r>
            <a:endParaRPr lang="ro-RO" dirty="0">
              <a:solidFill>
                <a:srgbClr val="0000FF"/>
              </a:solidFill>
            </a:endParaRPr>
          </a:p>
        </p:txBody>
      </p:sp>
      <p:cxnSp>
        <p:nvCxnSpPr>
          <p:cNvPr id="39" name="Straight Arrow Connector 38">
            <a:extLst>
              <a:ext uri="{FF2B5EF4-FFF2-40B4-BE49-F238E27FC236}">
                <a16:creationId xmlns:a16="http://schemas.microsoft.com/office/drawing/2014/main" id="{22F68E20-83FD-7F65-7C1C-4912E7B9859C}"/>
              </a:ext>
            </a:extLst>
          </p:cNvPr>
          <p:cNvCxnSpPr>
            <a:cxnSpLocks/>
          </p:cNvCxnSpPr>
          <p:nvPr/>
        </p:nvCxnSpPr>
        <p:spPr>
          <a:xfrm flipH="1" flipV="1">
            <a:off x="4107956" y="4883167"/>
            <a:ext cx="1425607" cy="26362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41" name="TextBox 40">
            <a:extLst>
              <a:ext uri="{FF2B5EF4-FFF2-40B4-BE49-F238E27FC236}">
                <a16:creationId xmlns:a16="http://schemas.microsoft.com/office/drawing/2014/main" id="{FC0B779F-2FA1-B0DA-8DD7-5A0CCC12C6B1}"/>
              </a:ext>
            </a:extLst>
          </p:cNvPr>
          <p:cNvSpPr txBox="1"/>
          <p:nvPr/>
        </p:nvSpPr>
        <p:spPr>
          <a:xfrm>
            <a:off x="5576564" y="5066380"/>
            <a:ext cx="2916314" cy="369332"/>
          </a:xfrm>
          <a:prstGeom prst="rect">
            <a:avLst/>
          </a:prstGeom>
          <a:noFill/>
        </p:spPr>
        <p:txBody>
          <a:bodyPr wrap="square" rtlCol="0">
            <a:spAutoFit/>
          </a:bodyPr>
          <a:lstStyle/>
          <a:p>
            <a:r>
              <a:rPr lang="en-US" dirty="0" err="1">
                <a:solidFill>
                  <a:srgbClr val="FF0000"/>
                </a:solidFill>
              </a:rPr>
              <a:t>Tipul</a:t>
            </a:r>
            <a:r>
              <a:rPr lang="en-US" dirty="0">
                <a:solidFill>
                  <a:srgbClr val="FF0000"/>
                </a:solidFill>
              </a:rPr>
              <a:t> de date</a:t>
            </a:r>
            <a:r>
              <a:rPr lang="ro-RO" dirty="0">
                <a:solidFill>
                  <a:srgbClr val="FF0000"/>
                </a:solidFill>
              </a:rPr>
              <a:t> </a:t>
            </a:r>
          </a:p>
        </p:txBody>
      </p:sp>
      <p:sp>
        <p:nvSpPr>
          <p:cNvPr id="42" name="TextBox 41">
            <a:extLst>
              <a:ext uri="{FF2B5EF4-FFF2-40B4-BE49-F238E27FC236}">
                <a16:creationId xmlns:a16="http://schemas.microsoft.com/office/drawing/2014/main" id="{A226CAA0-FD83-07EC-4F9C-FDC3BC16236B}"/>
              </a:ext>
            </a:extLst>
          </p:cNvPr>
          <p:cNvSpPr txBox="1"/>
          <p:nvPr/>
        </p:nvSpPr>
        <p:spPr>
          <a:xfrm>
            <a:off x="2716567" y="5379306"/>
            <a:ext cx="2361461" cy="369332"/>
          </a:xfrm>
          <a:prstGeom prst="rect">
            <a:avLst/>
          </a:prstGeom>
          <a:noFill/>
        </p:spPr>
        <p:txBody>
          <a:bodyPr wrap="square" rtlCol="0">
            <a:spAutoFit/>
          </a:bodyPr>
          <a:lstStyle/>
          <a:p>
            <a:r>
              <a:rPr lang="en-US" dirty="0" err="1">
                <a:solidFill>
                  <a:srgbClr val="FF0000"/>
                </a:solidFill>
              </a:rPr>
              <a:t>Denumirea</a:t>
            </a:r>
            <a:r>
              <a:rPr lang="en-US" dirty="0">
                <a:solidFill>
                  <a:srgbClr val="FF0000"/>
                </a:solidFill>
              </a:rPr>
              <a:t> </a:t>
            </a:r>
            <a:r>
              <a:rPr lang="en-US" dirty="0" err="1">
                <a:solidFill>
                  <a:srgbClr val="FF0000"/>
                </a:solidFill>
              </a:rPr>
              <a:t>coloanei</a:t>
            </a:r>
            <a:r>
              <a:rPr lang="ro-RO" dirty="0">
                <a:solidFill>
                  <a:srgbClr val="FF0000"/>
                </a:solidFill>
              </a:rPr>
              <a:t> </a:t>
            </a:r>
          </a:p>
        </p:txBody>
      </p:sp>
      <p:cxnSp>
        <p:nvCxnSpPr>
          <p:cNvPr id="43" name="Straight Arrow Connector 42">
            <a:extLst>
              <a:ext uri="{FF2B5EF4-FFF2-40B4-BE49-F238E27FC236}">
                <a16:creationId xmlns:a16="http://schemas.microsoft.com/office/drawing/2014/main" id="{60615E9C-295A-2175-D881-E1E18725188B}"/>
              </a:ext>
            </a:extLst>
          </p:cNvPr>
          <p:cNvCxnSpPr>
            <a:cxnSpLocks/>
          </p:cNvCxnSpPr>
          <p:nvPr/>
        </p:nvCxnSpPr>
        <p:spPr>
          <a:xfrm flipH="1" flipV="1">
            <a:off x="2356281" y="5073439"/>
            <a:ext cx="431307" cy="4293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3386394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CFA31-D2FB-FCF0-C209-4271F3C354B0}"/>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263FD4E4-FBBD-0859-19EA-5FD2586D1186}"/>
              </a:ext>
            </a:extLst>
          </p:cNvPr>
          <p:cNvSpPr>
            <a:spLocks noGrp="1"/>
          </p:cNvSpPr>
          <p:nvPr>
            <p:ph idx="1"/>
          </p:nvPr>
        </p:nvSpPr>
        <p:spPr>
          <a:xfrm>
            <a:off x="1341120" y="1572768"/>
            <a:ext cx="9509760" cy="5147628"/>
          </a:xfrm>
        </p:spPr>
        <p:txBody>
          <a:bodyPr>
            <a:normAutofit/>
          </a:bodyPr>
          <a:lstStyle/>
          <a:p>
            <a:r>
              <a:rPr lang="ro-RO" dirty="0"/>
              <a:t>O altă variantă de creare a primului tabel din baza de date </a:t>
            </a:r>
            <a:r>
              <a:rPr lang="ro-RO" i="1" dirty="0"/>
              <a:t>ProblemaFilme</a:t>
            </a:r>
            <a:r>
              <a:rPr lang="ro-RO" dirty="0"/>
              <a:t>, folosind instrucțiunea </a:t>
            </a:r>
            <a:r>
              <a:rPr lang="ro-RO" b="1" i="1" dirty="0"/>
              <a:t>CREATE TABLE:</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Utilizatori</a:t>
            </a:r>
          </a:p>
          <a:p>
            <a:pPr marL="320040" lvl="1" indent="0">
              <a:buNone/>
            </a:pPr>
            <a:r>
              <a:rPr lang="ro-RO" i="0" dirty="0">
                <a:solidFill>
                  <a:srgbClr val="0000FF">
                    <a:alpha val="60000"/>
                  </a:srgbClr>
                </a:solidFill>
                <a:latin typeface="Consolas" panose="020B0609020204030204" pitchFamily="49" charset="0"/>
              </a:rPr>
              <a:t>	</a:t>
            </a:r>
            <a:r>
              <a:rPr lang="en-US" i="0" dirty="0">
                <a:solidFill>
                  <a:srgbClr val="0000FF">
                    <a:alpha val="60000"/>
                  </a:srgbClr>
                </a:solidFill>
                <a:latin typeface="Consolas" panose="020B0609020204030204" pitchFamily="49" charset="0"/>
              </a:rPr>
              <a:t>CREATE TABLE </a:t>
            </a:r>
            <a:r>
              <a:rPr lang="en-US" i="0" dirty="0" err="1">
                <a:latin typeface="Consolas" panose="020B0609020204030204" pitchFamily="49" charset="0"/>
              </a:rPr>
              <a:t>Utilizatori</a:t>
            </a:r>
            <a:endParaRPr lang="ro-RO" i="0" dirty="0">
              <a:latin typeface="Consolas" panose="020B0609020204030204" pitchFamily="49" charset="0"/>
            </a:endParaRPr>
          </a:p>
          <a:p>
            <a:pPr marL="320040" lvl="1" indent="0">
              <a:buNone/>
            </a:pPr>
            <a:r>
              <a:rPr lang="ro-RO" dirty="0">
                <a:latin typeface="Consolas" panose="020B0609020204030204" pitchFamily="49" charset="0"/>
              </a:rPr>
              <a:t>	</a:t>
            </a:r>
            <a:r>
              <a:rPr lang="en-US" dirty="0">
                <a:latin typeface="Consolas" panose="020B0609020204030204" pitchFamily="49" charset="0"/>
              </a:rPr>
              <a:t>(</a:t>
            </a:r>
            <a:r>
              <a:rPr lang="en-US" i="0" dirty="0" err="1">
                <a:latin typeface="Consolas" panose="020B0609020204030204" pitchFamily="49" charset="0"/>
              </a:rPr>
              <a:t>cod_u</a:t>
            </a:r>
            <a:r>
              <a:rPr lang="en-US" dirty="0">
                <a:latin typeface="Consolas" panose="020B0609020204030204" pitchFamily="49" charset="0"/>
              </a:rPr>
              <a:t> </a:t>
            </a:r>
            <a:r>
              <a:rPr lang="en-US" i="0" dirty="0">
                <a:solidFill>
                  <a:srgbClr val="0000FF">
                    <a:alpha val="60000"/>
                  </a:srgbClr>
                </a:solidFill>
                <a:latin typeface="Consolas" panose="020B0609020204030204" pitchFamily="49" charset="0"/>
              </a:rPr>
              <a:t>INT </a:t>
            </a:r>
            <a:r>
              <a:rPr lang="en-US" i="0" dirty="0">
                <a:solidFill>
                  <a:srgbClr val="0000FF">
                    <a:alpha val="60000"/>
                  </a:srgbClr>
                </a:solidFill>
                <a:highlight>
                  <a:srgbClr val="00FF00"/>
                </a:highlight>
                <a:latin typeface="Consolas" panose="020B0609020204030204" pitchFamily="49" charset="0"/>
              </a:rPr>
              <a:t>IDENTITY</a:t>
            </a:r>
            <a:r>
              <a:rPr lang="ro-RO" i="0" dirty="0">
                <a:solidFill>
                  <a:srgbClr val="0000FF">
                    <a:alpha val="60000"/>
                  </a:srgbClr>
                </a:solidFill>
                <a:highlight>
                  <a:srgbClr val="00FF00"/>
                </a:highlight>
                <a:latin typeface="Consolas" panose="020B0609020204030204" pitchFamily="49" charset="0"/>
              </a:rPr>
              <a:t>(1,1)</a:t>
            </a:r>
            <a:r>
              <a:rPr lang="en-US"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nume_u</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 </a:t>
            </a:r>
            <a:r>
              <a:rPr lang="en-US" sz="1800" dirty="0">
                <a:solidFill>
                  <a:srgbClr val="0000FF">
                    <a:alpha val="60000"/>
                  </a:srgbClr>
                </a:solidFill>
                <a:highlight>
                  <a:srgbClr val="FFFF00"/>
                </a:highlight>
                <a:latin typeface="Consolas" panose="020B0609020204030204" pitchFamily="49" charset="0"/>
              </a:rPr>
              <a:t>NOT NULL</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err="1">
                <a:latin typeface="Consolas" panose="020B0609020204030204" pitchFamily="49" charset="0"/>
              </a:rPr>
              <a:t>parola</a:t>
            </a:r>
            <a:r>
              <a:rPr lang="en-US" sz="1800" dirty="0">
                <a:latin typeface="Consolas" panose="020B0609020204030204" pitchFamily="49" charset="0"/>
              </a:rPr>
              <a:t> </a:t>
            </a:r>
            <a:r>
              <a:rPr lang="en-US" sz="1800" dirty="0">
                <a:solidFill>
                  <a:srgbClr val="0000FF">
                    <a:alpha val="60000"/>
                  </a:srgbClr>
                </a:solidFill>
                <a:latin typeface="Consolas" panose="020B0609020204030204" pitchFamily="49" charset="0"/>
              </a:rPr>
              <a:t>VARCHAR(100)</a:t>
            </a:r>
            <a:r>
              <a:rPr lang="en-US" sz="1800" dirty="0">
                <a:latin typeface="Consolas" panose="020B0609020204030204" pitchFamily="49" charset="0"/>
              </a:rPr>
              <a:t>,</a:t>
            </a:r>
          </a:p>
          <a:p>
            <a:pPr marL="0" indent="0">
              <a:buNone/>
            </a:pPr>
            <a:r>
              <a:rPr lang="ro-RO" sz="1800" dirty="0">
                <a:latin typeface="Consolas" panose="020B0609020204030204" pitchFamily="49" charset="0"/>
              </a:rPr>
              <a:t>	</a:t>
            </a:r>
            <a:r>
              <a:rPr lang="en-US" sz="1800" dirty="0">
                <a:latin typeface="Consolas" panose="020B0609020204030204" pitchFamily="49" charset="0"/>
              </a:rPr>
              <a:t>email </a:t>
            </a:r>
            <a:r>
              <a:rPr lang="en-US" sz="1800" dirty="0">
                <a:solidFill>
                  <a:srgbClr val="0000FF">
                    <a:alpha val="60000"/>
                  </a:srgbClr>
                </a:solidFill>
                <a:latin typeface="Consolas" panose="020B0609020204030204" pitchFamily="49" charset="0"/>
              </a:rPr>
              <a:t>VARCHAR(100)</a:t>
            </a:r>
            <a:r>
              <a:rPr lang="ro-RO" sz="1800" dirty="0">
                <a:solidFill>
                  <a:srgbClr val="0000FF">
                    <a:alpha val="60000"/>
                  </a:srgbClr>
                </a:solidFill>
                <a:latin typeface="Consolas" panose="020B0609020204030204" pitchFamily="49" charset="0"/>
              </a:rPr>
              <a:t>,</a:t>
            </a:r>
          </a:p>
          <a:p>
            <a:pPr marL="0" indent="0">
              <a:buNone/>
            </a:pPr>
            <a:r>
              <a:rPr lang="ro-RO" sz="1800" dirty="0">
                <a:solidFill>
                  <a:srgbClr val="0000FF">
                    <a:alpha val="60000"/>
                  </a:srgbClr>
                </a:solidFill>
                <a:latin typeface="Consolas" panose="020B0609020204030204" pitchFamily="49" charset="0"/>
              </a:rPr>
              <a:t>	</a:t>
            </a:r>
            <a:r>
              <a:rPr lang="ro-RO" sz="1800" dirty="0">
                <a:solidFill>
                  <a:srgbClr val="0000FF">
                    <a:alpha val="60000"/>
                  </a:srgbClr>
                </a:solidFill>
                <a:highlight>
                  <a:srgbClr val="FFFF00"/>
                </a:highlight>
                <a:latin typeface="Consolas" panose="020B0609020204030204" pitchFamily="49" charset="0"/>
              </a:rPr>
              <a:t>CONSTRAINT</a:t>
            </a:r>
            <a:r>
              <a:rPr lang="ro-RO" sz="1800" dirty="0">
                <a:highlight>
                  <a:srgbClr val="FFFF00"/>
                </a:highlight>
                <a:latin typeface="Consolas" panose="020B0609020204030204" pitchFamily="49" charset="0"/>
              </a:rPr>
              <a:t> pk_Utilizatori </a:t>
            </a:r>
            <a:r>
              <a:rPr lang="ro-RO" sz="1800" dirty="0">
                <a:solidFill>
                  <a:srgbClr val="0000FF">
                    <a:alpha val="60000"/>
                  </a:srgbClr>
                </a:solidFill>
                <a:highlight>
                  <a:srgbClr val="FFFF00"/>
                </a:highlight>
                <a:latin typeface="Consolas" panose="020B0609020204030204" pitchFamily="49" charset="0"/>
              </a:rPr>
              <a:t>PRIMARY KEY </a:t>
            </a:r>
            <a:r>
              <a:rPr lang="ro-RO" sz="1800" dirty="0">
                <a:highlight>
                  <a:srgbClr val="FFFF00"/>
                </a:highlight>
                <a:latin typeface="Consolas" panose="020B0609020204030204" pitchFamily="49" charset="0"/>
              </a:rPr>
              <a:t>(cod_u),</a:t>
            </a:r>
          </a:p>
          <a:p>
            <a:pPr marL="0" indent="0">
              <a:buNone/>
            </a:pPr>
            <a:r>
              <a:rPr lang="ro-RO" sz="1800" dirty="0">
                <a:solidFill>
                  <a:srgbClr val="0000FF">
                    <a:alpha val="60000"/>
                  </a:srgbClr>
                </a:solidFill>
                <a:latin typeface="Consolas" panose="020B0609020204030204" pitchFamily="49" charset="0"/>
              </a:rPr>
              <a:t>	</a:t>
            </a:r>
            <a:r>
              <a:rPr lang="ro-RO" sz="1800" dirty="0">
                <a:solidFill>
                  <a:srgbClr val="0000FF">
                    <a:alpha val="60000"/>
                  </a:srgbClr>
                </a:solidFill>
                <a:highlight>
                  <a:srgbClr val="FFFF00"/>
                </a:highlight>
                <a:latin typeface="Consolas" panose="020B0609020204030204" pitchFamily="49" charset="0"/>
              </a:rPr>
              <a:t>CONSTRAINT</a:t>
            </a:r>
            <a:r>
              <a:rPr lang="ro-RO" sz="1800" dirty="0">
                <a:highlight>
                  <a:srgbClr val="FFFF00"/>
                </a:highlight>
                <a:latin typeface="Consolas" panose="020B0609020204030204" pitchFamily="49" charset="0"/>
              </a:rPr>
              <a:t> uq_nume_u</a:t>
            </a:r>
            <a:r>
              <a:rPr lang="ro-RO" sz="1800" dirty="0">
                <a:solidFill>
                  <a:srgbClr val="0000FF">
                    <a:alpha val="60000"/>
                  </a:srgbClr>
                </a:solidFill>
                <a:highlight>
                  <a:srgbClr val="FFFF00"/>
                </a:highlight>
                <a:latin typeface="Consolas" panose="020B0609020204030204" pitchFamily="49" charset="0"/>
              </a:rPr>
              <a:t> UNIQUE </a:t>
            </a:r>
            <a:r>
              <a:rPr lang="ro-RO" sz="1800" dirty="0">
                <a:highlight>
                  <a:srgbClr val="FFFF00"/>
                </a:highlight>
                <a:latin typeface="Consolas" panose="020B0609020204030204" pitchFamily="49" charset="0"/>
              </a:rPr>
              <a:t>(nume_u)</a:t>
            </a:r>
            <a:endParaRPr lang="en-US" sz="1800" dirty="0">
              <a:highlight>
                <a:srgbClr val="FFFF00"/>
              </a:highlight>
              <a:latin typeface="Consolas" panose="020B0609020204030204" pitchFamily="49" charset="0"/>
            </a:endParaRPr>
          </a:p>
          <a:p>
            <a:pPr marL="0" indent="0">
              <a:buNone/>
            </a:pPr>
            <a:r>
              <a:rPr lang="ro-RO" sz="1800" dirty="0">
                <a:latin typeface="Consolas" panose="020B0609020204030204" pitchFamily="49" charset="0"/>
              </a:rPr>
              <a:t>	</a:t>
            </a:r>
            <a:r>
              <a:rPr lang="en-US" sz="1800" dirty="0">
                <a:latin typeface="Consolas" panose="020B0609020204030204" pitchFamily="49" charset="0"/>
              </a:rPr>
              <a:t>);</a:t>
            </a:r>
          </a:p>
          <a:p>
            <a:endParaRPr lang="ro-RO" dirty="0"/>
          </a:p>
        </p:txBody>
      </p:sp>
    </p:spTree>
    <p:extLst>
      <p:ext uri="{BB962C8B-B14F-4D97-AF65-F5344CB8AC3E}">
        <p14:creationId xmlns:p14="http://schemas.microsoft.com/office/powerpoint/2010/main" val="3407533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39E79-1BA1-0A91-0DCF-87E611C614B2}"/>
              </a:ext>
            </a:extLst>
          </p:cNvPr>
          <p:cNvSpPr>
            <a:spLocks noGrp="1"/>
          </p:cNvSpPr>
          <p:nvPr>
            <p:ph type="title"/>
          </p:nvPr>
        </p:nvSpPr>
        <p:spPr/>
        <p:txBody>
          <a:bodyPr/>
          <a:lstStyle/>
          <a:p>
            <a:r>
              <a:rPr lang="ro-RO" dirty="0">
                <a:latin typeface="+mn-lt"/>
              </a:rPr>
              <a:t>Observații</a:t>
            </a:r>
          </a:p>
        </p:txBody>
      </p:sp>
      <p:sp>
        <p:nvSpPr>
          <p:cNvPr id="3" name="Content Placeholder 2">
            <a:extLst>
              <a:ext uri="{FF2B5EF4-FFF2-40B4-BE49-F238E27FC236}">
                <a16:creationId xmlns:a16="http://schemas.microsoft.com/office/drawing/2014/main" id="{CE6A7451-FBB0-63E5-FB8E-76EAFA88195D}"/>
              </a:ext>
            </a:extLst>
          </p:cNvPr>
          <p:cNvSpPr>
            <a:spLocks noGrp="1"/>
          </p:cNvSpPr>
          <p:nvPr>
            <p:ph idx="1"/>
          </p:nvPr>
        </p:nvSpPr>
        <p:spPr>
          <a:xfrm>
            <a:off x="989399" y="1685925"/>
            <a:ext cx="11093109" cy="4936817"/>
          </a:xfrm>
        </p:spPr>
        <p:txBody>
          <a:bodyPr/>
          <a:lstStyle/>
          <a:p>
            <a:r>
              <a:rPr lang="ro-RO" dirty="0"/>
              <a:t>Fiecare tabel va conține mai multe coloane, iar fiecare </a:t>
            </a:r>
            <a:r>
              <a:rPr lang="ro-RO" b="1" dirty="0"/>
              <a:t>coloană</a:t>
            </a:r>
            <a:r>
              <a:rPr lang="ro-RO" dirty="0"/>
              <a:t> va avea un </a:t>
            </a:r>
            <a:r>
              <a:rPr lang="ro-RO" b="1" dirty="0"/>
              <a:t>tip de date</a:t>
            </a:r>
          </a:p>
          <a:p>
            <a:r>
              <a:rPr lang="ro-RO" dirty="0"/>
              <a:t>Fiecare tabel va avea un </a:t>
            </a:r>
            <a:r>
              <a:rPr lang="ro-RO" b="1" dirty="0"/>
              <a:t>identificator unic</a:t>
            </a:r>
            <a:r>
              <a:rPr lang="ro-RO" dirty="0"/>
              <a:t>, asigurat prin definirea unei </a:t>
            </a:r>
            <a:r>
              <a:rPr lang="ro-RO" b="1" dirty="0"/>
              <a:t>constrângeri</a:t>
            </a:r>
            <a:r>
              <a:rPr lang="ro-RO" dirty="0"/>
              <a:t> </a:t>
            </a:r>
            <a:r>
              <a:rPr lang="ro-RO" b="1" dirty="0"/>
              <a:t>PRIMARY KEY </a:t>
            </a:r>
            <a:r>
              <a:rPr lang="ro-RO" dirty="0"/>
              <a:t>pe tabel (aceasta poate fi definită pe una sau mai multe coloane)</a:t>
            </a:r>
          </a:p>
          <a:p>
            <a:r>
              <a:rPr lang="ro-RO" dirty="0"/>
              <a:t>În cazul în care avem o </a:t>
            </a:r>
            <a:r>
              <a:rPr lang="ro-RO" b="1" dirty="0"/>
              <a:t>constrângere</a:t>
            </a:r>
            <a:r>
              <a:rPr lang="ro-RO" dirty="0"/>
              <a:t> </a:t>
            </a:r>
            <a:r>
              <a:rPr lang="ro-RO" b="1" dirty="0"/>
              <a:t>PRIMARY KEY </a:t>
            </a:r>
            <a:r>
              <a:rPr lang="ro-RO" dirty="0"/>
              <a:t>definită pe o singură coloană de tipul </a:t>
            </a:r>
            <a:r>
              <a:rPr lang="ro-RO" i="1" dirty="0"/>
              <a:t>INT</a:t>
            </a:r>
            <a:r>
              <a:rPr lang="ro-RO" dirty="0"/>
              <a:t>, putem folosi </a:t>
            </a:r>
            <a:r>
              <a:rPr lang="ro-RO" b="1" dirty="0"/>
              <a:t>proprietatea IDENTITY </a:t>
            </a:r>
            <a:r>
              <a:rPr lang="ro-RO" dirty="0"/>
              <a:t>pentru a genera valori unice în mod automat pentru această coloană</a:t>
            </a:r>
          </a:p>
          <a:p>
            <a:r>
              <a:rPr lang="ro-RO" dirty="0"/>
              <a:t>Dacă </a:t>
            </a:r>
            <a:r>
              <a:rPr lang="ro-RO" b="1" dirty="0"/>
              <a:t>nu</a:t>
            </a:r>
            <a:r>
              <a:rPr lang="ro-RO" dirty="0"/>
              <a:t> dorim să permitem introducerea de valori </a:t>
            </a:r>
            <a:r>
              <a:rPr lang="ro-RO" i="1" dirty="0"/>
              <a:t>NULL</a:t>
            </a:r>
            <a:r>
              <a:rPr lang="ro-RO" dirty="0"/>
              <a:t> pentru o coloană, aplicăm </a:t>
            </a:r>
            <a:r>
              <a:rPr lang="ro-RO" b="1" dirty="0"/>
              <a:t>constrângerea NOT NULL </a:t>
            </a:r>
            <a:r>
              <a:rPr lang="ro-RO" dirty="0"/>
              <a:t>pe coloana respectivă</a:t>
            </a:r>
          </a:p>
        </p:txBody>
      </p:sp>
    </p:spTree>
    <p:extLst>
      <p:ext uri="{BB962C8B-B14F-4D97-AF65-F5344CB8AC3E}">
        <p14:creationId xmlns:p14="http://schemas.microsoft.com/office/powerpoint/2010/main" val="12342300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CC54BF-C538-CCC1-08FE-E8179F4A3FDE}"/>
              </a:ext>
            </a:extLst>
          </p:cNvPr>
          <p:cNvSpPr>
            <a:spLocks noGrp="1"/>
          </p:cNvSpPr>
          <p:nvPr>
            <p:ph type="title"/>
          </p:nvPr>
        </p:nvSpPr>
        <p:spPr/>
        <p:txBody>
          <a:bodyPr/>
          <a:lstStyle/>
          <a:p>
            <a:r>
              <a:rPr lang="ro-RO" dirty="0">
                <a:latin typeface="+mn-lt"/>
              </a:rPr>
              <a:t>Observații</a:t>
            </a:r>
            <a:endParaRPr lang="ro-RO" dirty="0"/>
          </a:p>
        </p:txBody>
      </p:sp>
      <p:sp>
        <p:nvSpPr>
          <p:cNvPr id="3" name="Content Placeholder 2">
            <a:extLst>
              <a:ext uri="{FF2B5EF4-FFF2-40B4-BE49-F238E27FC236}">
                <a16:creationId xmlns:a16="http://schemas.microsoft.com/office/drawing/2014/main" id="{98F068E2-2D14-702B-EC7F-4BB4FB5E8420}"/>
              </a:ext>
            </a:extLst>
          </p:cNvPr>
          <p:cNvSpPr>
            <a:spLocks noGrp="1"/>
          </p:cNvSpPr>
          <p:nvPr>
            <p:ph idx="1"/>
          </p:nvPr>
        </p:nvSpPr>
        <p:spPr>
          <a:xfrm>
            <a:off x="989400" y="1685925"/>
            <a:ext cx="10791268" cy="4945694"/>
          </a:xfrm>
        </p:spPr>
        <p:txBody>
          <a:bodyPr/>
          <a:lstStyle/>
          <a:p>
            <a:r>
              <a:rPr lang="ro-RO" b="1" dirty="0"/>
              <a:t>Constrângerea UNIQUE </a:t>
            </a:r>
            <a:r>
              <a:rPr lang="ro-RO" dirty="0"/>
              <a:t>asigură unicitatea valorilor la nivelul coloanei sau combinației de coloane pe care este definită </a:t>
            </a:r>
          </a:p>
          <a:p>
            <a:r>
              <a:rPr lang="ro-RO" dirty="0"/>
              <a:t>Se pot defini mai multe </a:t>
            </a:r>
            <a:r>
              <a:rPr lang="ro-RO" b="1" dirty="0"/>
              <a:t>constrângeri UNIQUE </a:t>
            </a:r>
            <a:r>
              <a:rPr lang="ro-RO" dirty="0"/>
              <a:t>pe un tabel, dar doar o </a:t>
            </a:r>
            <a:r>
              <a:rPr lang="ro-RO" b="1" dirty="0"/>
              <a:t>singură constrângere PRIMARY KEY</a:t>
            </a:r>
          </a:p>
          <a:p>
            <a:r>
              <a:rPr lang="ro-RO" dirty="0"/>
              <a:t>Nu se pot specifica valori duplicate sau </a:t>
            </a:r>
            <a:r>
              <a:rPr lang="ro-RO" i="1" dirty="0"/>
              <a:t>NULL</a:t>
            </a:r>
            <a:r>
              <a:rPr lang="ro-RO" dirty="0"/>
              <a:t> pentru coloanele pe care a fost definită o </a:t>
            </a:r>
            <a:r>
              <a:rPr lang="ro-RO" b="1" dirty="0"/>
              <a:t>constrângere PRIMARY KEY </a:t>
            </a:r>
          </a:p>
          <a:p>
            <a:r>
              <a:rPr lang="ro-RO" b="1" dirty="0"/>
              <a:t>Proprietatea IDENTITY(</a:t>
            </a:r>
            <a:r>
              <a:rPr lang="ro-RO" b="1" i="1" dirty="0"/>
              <a:t>seed</a:t>
            </a:r>
            <a:r>
              <a:rPr lang="ro-RO" b="1" dirty="0"/>
              <a:t>, </a:t>
            </a:r>
            <a:r>
              <a:rPr lang="ro-RO" b="1" i="1" dirty="0"/>
              <a:t>increment</a:t>
            </a:r>
            <a:r>
              <a:rPr lang="ro-RO" b="1" dirty="0"/>
              <a:t>):</a:t>
            </a:r>
          </a:p>
          <a:p>
            <a:pPr lvl="1"/>
            <a:r>
              <a:rPr lang="ro-RO" sz="2000" b="1" dirty="0"/>
              <a:t>seed</a:t>
            </a:r>
            <a:r>
              <a:rPr lang="ro-RO" sz="2000" dirty="0"/>
              <a:t> reprezintă valoarea folosită la inserarea primei înregistrări din tabel</a:t>
            </a:r>
          </a:p>
          <a:p>
            <a:pPr lvl="1"/>
            <a:r>
              <a:rPr lang="ro-RO" sz="2000" b="1" dirty="0"/>
              <a:t>increment</a:t>
            </a:r>
            <a:r>
              <a:rPr lang="ro-RO" sz="2000" dirty="0"/>
              <a:t> reprezintă valoarea care se adaugă la valoarea </a:t>
            </a:r>
            <a:r>
              <a:rPr lang="ro-RO" sz="2000" i="1" dirty="0"/>
              <a:t>identity</a:t>
            </a:r>
            <a:r>
              <a:rPr lang="ro-RO" sz="2000" dirty="0"/>
              <a:t> generată pentru ultima înregistrare inserată în tabel </a:t>
            </a:r>
            <a:endParaRPr lang="en-US" sz="2000" dirty="0"/>
          </a:p>
          <a:p>
            <a:endParaRPr lang="ro-RO" b="1" dirty="0"/>
          </a:p>
          <a:p>
            <a:endParaRPr lang="ro-RO" b="1" dirty="0"/>
          </a:p>
        </p:txBody>
      </p:sp>
    </p:spTree>
    <p:extLst>
      <p:ext uri="{BB962C8B-B14F-4D97-AF65-F5344CB8AC3E}">
        <p14:creationId xmlns:p14="http://schemas.microsoft.com/office/powerpoint/2010/main" val="2217872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4"/>
            <a:ext cx="10569326" cy="5172076"/>
          </a:xfrm>
        </p:spPr>
        <p:txBody>
          <a:bodyPr>
            <a:normAutofit/>
          </a:bodyPr>
          <a:lstStyle/>
          <a:p>
            <a:r>
              <a:rPr lang="ro-RO" dirty="0"/>
              <a:t>În continuare, se va crea tabelul </a:t>
            </a:r>
            <a:r>
              <a:rPr lang="ro-RO" i="1" dirty="0"/>
              <a:t>Companii</a:t>
            </a:r>
            <a:r>
              <a:rPr lang="ro-RO" dirty="0"/>
              <a:t>, executând instrucțiunea de mai jos:</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Companii</a:t>
            </a:r>
          </a:p>
          <a:p>
            <a:pPr marL="0" indent="0">
              <a:buNone/>
            </a:pPr>
            <a:r>
              <a:rPr lang="ro-RO" dirty="0"/>
              <a:t>	</a:t>
            </a:r>
            <a:r>
              <a:rPr lang="en-US" dirty="0">
                <a:solidFill>
                  <a:srgbClr val="0000FF">
                    <a:alpha val="60000"/>
                  </a:srgbClr>
                </a:solidFill>
                <a:latin typeface="Consolas" panose="020B0609020204030204" pitchFamily="49" charset="0"/>
              </a:rPr>
              <a:t>CREATE TABLE </a:t>
            </a:r>
            <a:r>
              <a:rPr lang="en-US" dirty="0" err="1">
                <a:latin typeface="Consolas" panose="020B0609020204030204" pitchFamily="49" charset="0"/>
              </a:rPr>
              <a:t>Companii</a:t>
            </a:r>
            <a:endParaRPr lang="en-US" dirty="0">
              <a:latin typeface="Consolas" panose="020B0609020204030204" pitchFamily="49" charset="0"/>
            </a:endParaRPr>
          </a:p>
          <a:p>
            <a:pPr marL="0" indent="0">
              <a:buNone/>
            </a:pPr>
            <a:r>
              <a:rPr lang="ro-RO" dirty="0">
                <a:latin typeface="Consolas" panose="020B0609020204030204" pitchFamily="49" charset="0"/>
              </a:rPr>
              <a:t>	</a:t>
            </a:r>
            <a:r>
              <a:rPr lang="en-US" dirty="0">
                <a:latin typeface="Consolas" panose="020B0609020204030204" pitchFamily="49" charset="0"/>
              </a:rPr>
              <a:t>(</a:t>
            </a:r>
            <a:r>
              <a:rPr lang="en-US" dirty="0" err="1">
                <a:latin typeface="Consolas" panose="020B0609020204030204" pitchFamily="49" charset="0"/>
              </a:rPr>
              <a:t>cod_c</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INT </a:t>
            </a:r>
            <a:r>
              <a:rPr lang="en-US" dirty="0">
                <a:solidFill>
                  <a:srgbClr val="0000FF">
                    <a:alpha val="60000"/>
                  </a:srgbClr>
                </a:solidFill>
                <a:highlight>
                  <a:srgbClr val="FFFF00"/>
                </a:highlight>
                <a:latin typeface="Consolas" panose="020B0609020204030204" pitchFamily="49" charset="0"/>
              </a:rPr>
              <a:t>PRIMARY KEY</a:t>
            </a:r>
            <a:r>
              <a:rPr lang="en-US" dirty="0">
                <a:solidFill>
                  <a:srgbClr val="0000FF">
                    <a:alpha val="60000"/>
                  </a:srgbClr>
                </a:solidFill>
                <a:latin typeface="Consolas" panose="020B0609020204030204" pitchFamily="49" charset="0"/>
              </a:rPr>
              <a:t> </a:t>
            </a:r>
            <a:r>
              <a:rPr lang="en-US" dirty="0">
                <a:solidFill>
                  <a:srgbClr val="0000FF">
                    <a:alpha val="60000"/>
                  </a:srgbClr>
                </a:solidFill>
                <a:highlight>
                  <a:srgbClr val="00FF00"/>
                </a:highlight>
                <a:latin typeface="Consolas" panose="020B0609020204030204" pitchFamily="49" charset="0"/>
              </a:rPr>
              <a:t>IDENTITY</a:t>
            </a:r>
            <a:r>
              <a:rPr lang="ro-RO" dirty="0">
                <a:solidFill>
                  <a:srgbClr val="0000FF">
                    <a:alpha val="60000"/>
                  </a:srgbClr>
                </a:solidFill>
                <a:highlight>
                  <a:srgbClr val="00FF00"/>
                </a:highlight>
                <a:latin typeface="Consolas" panose="020B0609020204030204" pitchFamily="49" charset="0"/>
              </a:rPr>
              <a:t>(1,1)</a:t>
            </a:r>
            <a:r>
              <a:rPr lang="en-US" dirty="0">
                <a:latin typeface="Consolas" panose="020B0609020204030204" pitchFamily="49" charset="0"/>
              </a:rPr>
              <a:t>,</a:t>
            </a:r>
          </a:p>
          <a:p>
            <a:pPr marL="0" indent="0">
              <a:buNone/>
            </a:pPr>
            <a:r>
              <a:rPr lang="ro-RO" dirty="0">
                <a:latin typeface="Consolas" panose="020B0609020204030204" pitchFamily="49" charset="0"/>
              </a:rPr>
              <a:t>	</a:t>
            </a:r>
            <a:r>
              <a:rPr lang="en-US" dirty="0" err="1">
                <a:latin typeface="Consolas" panose="020B0609020204030204" pitchFamily="49" charset="0"/>
              </a:rPr>
              <a:t>nume_c</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NVARCHAR(100)</a:t>
            </a:r>
            <a:r>
              <a:rPr lang="en-US" dirty="0">
                <a:latin typeface="Consolas" panose="020B0609020204030204" pitchFamily="49" charset="0"/>
              </a:rPr>
              <a:t>,</a:t>
            </a:r>
          </a:p>
          <a:p>
            <a:pPr marL="0" indent="0">
              <a:buNone/>
            </a:pPr>
            <a:r>
              <a:rPr lang="ro-RO" dirty="0">
                <a:latin typeface="Consolas" panose="020B0609020204030204" pitchFamily="49" charset="0"/>
              </a:rPr>
              <a:t>	</a:t>
            </a:r>
            <a:r>
              <a:rPr lang="en-US" dirty="0" err="1">
                <a:latin typeface="Consolas" panose="020B0609020204030204" pitchFamily="49" charset="0"/>
              </a:rPr>
              <a:t>tara</a:t>
            </a:r>
            <a:r>
              <a:rPr lang="en-US" dirty="0">
                <a:latin typeface="Consolas" panose="020B0609020204030204" pitchFamily="49" charset="0"/>
              </a:rPr>
              <a:t> </a:t>
            </a:r>
            <a:r>
              <a:rPr lang="en-US" dirty="0">
                <a:solidFill>
                  <a:srgbClr val="0000FF">
                    <a:alpha val="60000"/>
                  </a:srgbClr>
                </a:solidFill>
                <a:latin typeface="Consolas" panose="020B0609020204030204" pitchFamily="49" charset="0"/>
              </a:rPr>
              <a:t>NVARCHAR(100)</a:t>
            </a:r>
          </a:p>
          <a:p>
            <a:pPr marL="0" indent="0">
              <a:buNone/>
            </a:pPr>
            <a:r>
              <a:rPr lang="ro-RO" dirty="0">
                <a:latin typeface="Consolas" panose="020B0609020204030204" pitchFamily="49" charset="0"/>
              </a:rPr>
              <a:t>	</a:t>
            </a:r>
            <a:r>
              <a:rPr lang="en-US" dirty="0">
                <a:latin typeface="Consolas" panose="020B0609020204030204" pitchFamily="49" charset="0"/>
              </a:rPr>
              <a:t>);</a:t>
            </a:r>
            <a:endParaRPr lang="ro-RO" dirty="0">
              <a:latin typeface="Consolas" panose="020B0609020204030204" pitchFamily="49" charset="0"/>
            </a:endParaRPr>
          </a:p>
        </p:txBody>
      </p:sp>
    </p:spTree>
    <p:extLst>
      <p:ext uri="{BB962C8B-B14F-4D97-AF65-F5344CB8AC3E}">
        <p14:creationId xmlns:p14="http://schemas.microsoft.com/office/powerpoint/2010/main" val="222519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a:bodyPr>
          <a:lstStyle/>
          <a:p>
            <a:r>
              <a:rPr lang="ro-RO" dirty="0"/>
              <a:t>Apoi, se va crea tabelul </a:t>
            </a:r>
            <a:r>
              <a:rPr lang="en-US" i="1" dirty="0" err="1"/>
              <a:t>Filme</a:t>
            </a:r>
            <a:r>
              <a:rPr lang="ro-RO" dirty="0"/>
              <a:t>, executând instrucțiunea de mai jos:</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a:t>
            </a:r>
            <a:r>
              <a:rPr lang="en-US" dirty="0" err="1">
                <a:solidFill>
                  <a:schemeClr val="accent1">
                    <a:lumMod val="75000"/>
                    <a:alpha val="60000"/>
                  </a:schemeClr>
                </a:solidFill>
              </a:rPr>
              <a:t>Filme</a:t>
            </a:r>
            <a:endParaRPr lang="en-US" dirty="0">
              <a:solidFill>
                <a:schemeClr val="accent1">
                  <a:lumMod val="75000"/>
                  <a:alpha val="60000"/>
                </a:schemeClr>
              </a:solidFill>
              <a:latin typeface="Consolas" panose="020B0609020204030204" pitchFamily="49" charset="0"/>
            </a:endParaRPr>
          </a:p>
          <a:p>
            <a:pPr marL="0" indent="0">
              <a:buNone/>
            </a:pPr>
            <a:r>
              <a:rPr lang="en-US"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Filme</a:t>
            </a:r>
          </a:p>
          <a:p>
            <a:pPr marL="0" indent="0">
              <a:buNone/>
            </a:pPr>
            <a:r>
              <a:rPr lang="en-US" dirty="0">
                <a:latin typeface="Consolas" panose="020B0609020204030204" pitchFamily="49" charset="0"/>
              </a:rPr>
              <a:t>	</a:t>
            </a:r>
            <a:r>
              <a:rPr lang="ro-RO" dirty="0">
                <a:latin typeface="Consolas" panose="020B0609020204030204" pitchFamily="49" charset="0"/>
              </a:rPr>
              <a:t>(cod_f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PRIMARY KEY</a:t>
            </a: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00FF00"/>
                </a:highlight>
                <a:latin typeface="Consolas" panose="020B0609020204030204" pitchFamily="49" charset="0"/>
              </a:rPr>
              <a:t>IDENTITY</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titlu </a:t>
            </a:r>
            <a:r>
              <a:rPr lang="ro-RO" dirty="0">
                <a:solidFill>
                  <a:srgbClr val="0000FF">
                    <a:alpha val="60000"/>
                  </a:srgbClr>
                </a:solidFill>
                <a:latin typeface="Consolas" panose="020B0609020204030204" pitchFamily="49" charset="0"/>
              </a:rPr>
              <a:t>NVARCHAR(200)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durata </a:t>
            </a:r>
            <a:r>
              <a:rPr lang="ro-RO" dirty="0">
                <a:solidFill>
                  <a:srgbClr val="0000FF">
                    <a:alpha val="60000"/>
                  </a:srgbClr>
                </a:solidFill>
                <a:latin typeface="Consolas" panose="020B0609020204030204" pitchFamily="49" charset="0"/>
              </a:rPr>
              <a:t>TIME</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limba </a:t>
            </a:r>
            <a:r>
              <a:rPr lang="ro-RO" dirty="0">
                <a:solidFill>
                  <a:srgbClr val="0000FF">
                    <a:alpha val="60000"/>
                  </a:srgbClr>
                </a:solidFill>
                <a:latin typeface="Consolas" panose="020B0609020204030204" pitchFamily="49" charset="0"/>
              </a:rPr>
              <a:t>NVARCHAR(100)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cod_c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FOREIGN KEY REFERENCES</a:t>
            </a:r>
            <a:r>
              <a:rPr lang="ro-RO" dirty="0">
                <a:highlight>
                  <a:srgbClr val="FFFF00"/>
                </a:highlight>
                <a:latin typeface="Consolas" panose="020B0609020204030204" pitchFamily="49" charset="0"/>
              </a:rPr>
              <a:t> Companii(cod_c) </a:t>
            </a:r>
            <a:r>
              <a:rPr lang="ro-RO" dirty="0">
                <a:solidFill>
                  <a:srgbClr val="0000FF">
                    <a:alpha val="60000"/>
                  </a:srgbClr>
                </a:solidFill>
                <a:highlight>
                  <a:srgbClr val="FFFF00"/>
                </a:highlight>
                <a:latin typeface="Consolas" panose="020B0609020204030204" pitchFamily="49" charset="0"/>
              </a:rPr>
              <a:t>ON</a:t>
            </a:r>
            <a:r>
              <a:rPr lang="ro-RO" dirty="0">
                <a:highlight>
                  <a:srgbClr val="FFFF00"/>
                </a:highlight>
                <a:latin typeface="Consolas" panose="020B0609020204030204" pitchFamily="49" charset="0"/>
              </a:rPr>
              <a:t> </a:t>
            </a:r>
            <a:r>
              <a:rPr lang="ro-RO" dirty="0">
                <a:solidFill>
                  <a:srgbClr val="FF00FF">
                    <a:alpha val="60000"/>
                  </a:srgbClr>
                </a:solidFill>
                <a:highlight>
                  <a:srgbClr val="FFFF00"/>
                </a:highlight>
                <a:latin typeface="Consolas" panose="020B0609020204030204" pitchFamily="49" charset="0"/>
              </a:rPr>
              <a:t>UPDATE</a:t>
            </a:r>
            <a:r>
              <a:rPr lang="ro-RO" dirty="0">
                <a:highlight>
                  <a:srgbClr val="FFFF00"/>
                </a:highlight>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CASCADE</a:t>
            </a: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ON DELETE CASCADE</a:t>
            </a:r>
          </a:p>
          <a:p>
            <a:pPr marL="0" indent="0">
              <a:buNone/>
            </a:pPr>
            <a:r>
              <a:rPr lang="en-US" dirty="0">
                <a:latin typeface="Consolas" panose="020B0609020204030204" pitchFamily="49" charset="0"/>
              </a:rPr>
              <a:t>	</a:t>
            </a:r>
            <a:r>
              <a:rPr lang="ro-RO" dirty="0">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C258103C-A170-FE96-3017-808CFCE3873A}"/>
              </a:ext>
            </a:extLst>
          </p:cNvPr>
          <p:cNvCxnSpPr>
            <a:cxnSpLocks/>
          </p:cNvCxnSpPr>
          <p:nvPr/>
        </p:nvCxnSpPr>
        <p:spPr>
          <a:xfrm flipH="1">
            <a:off x="6096000" y="4791806"/>
            <a:ext cx="739806" cy="488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70B7C7D4-0774-BF01-4D28-F969B77961A6}"/>
              </a:ext>
            </a:extLst>
          </p:cNvPr>
          <p:cNvSpPr txBox="1"/>
          <p:nvPr/>
        </p:nvSpPr>
        <p:spPr>
          <a:xfrm>
            <a:off x="6835806" y="4518240"/>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Tree>
    <p:extLst>
      <p:ext uri="{BB962C8B-B14F-4D97-AF65-F5344CB8AC3E}">
        <p14:creationId xmlns:p14="http://schemas.microsoft.com/office/powerpoint/2010/main" val="2709261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022C7-73D0-6F51-E7B2-F7F372E59453}"/>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5FE439-A466-9A42-0DD3-587095EE134B}"/>
              </a:ext>
            </a:extLst>
          </p:cNvPr>
          <p:cNvSpPr>
            <a:spLocks noGrp="1"/>
          </p:cNvSpPr>
          <p:nvPr>
            <p:ph idx="1"/>
          </p:nvPr>
        </p:nvSpPr>
        <p:spPr>
          <a:xfrm>
            <a:off x="989400" y="1685925"/>
            <a:ext cx="10569326" cy="4954572"/>
          </a:xfrm>
        </p:spPr>
        <p:txBody>
          <a:bodyPr>
            <a:normAutofit fontScale="92500" lnSpcReduction="10000"/>
          </a:bodyPr>
          <a:lstStyle/>
          <a:p>
            <a:r>
              <a:rPr lang="ro-RO" dirty="0"/>
              <a:t>O altă variantă de a crea tabelul </a:t>
            </a:r>
            <a:r>
              <a:rPr lang="en-US" i="1" dirty="0" err="1"/>
              <a:t>Filme</a:t>
            </a:r>
            <a:r>
              <a:rPr lang="ro-RO" dirty="0"/>
              <a:t>, executând instrucțiunea de mai jos:</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a:t>
            </a:r>
            <a:r>
              <a:rPr lang="en-US" dirty="0" err="1">
                <a:solidFill>
                  <a:schemeClr val="accent1">
                    <a:lumMod val="75000"/>
                    <a:alpha val="60000"/>
                  </a:schemeClr>
                </a:solidFill>
              </a:rPr>
              <a:t>Filme</a:t>
            </a:r>
            <a:endParaRPr lang="en-US" dirty="0">
              <a:solidFill>
                <a:schemeClr val="accent1">
                  <a:lumMod val="75000"/>
                  <a:alpha val="60000"/>
                </a:schemeClr>
              </a:solidFill>
              <a:latin typeface="Consolas" panose="020B0609020204030204" pitchFamily="49" charset="0"/>
            </a:endParaRPr>
          </a:p>
          <a:p>
            <a:pPr marL="0" indent="0">
              <a:buNone/>
            </a:pPr>
            <a:r>
              <a:rPr lang="en-US"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Filme</a:t>
            </a:r>
          </a:p>
          <a:p>
            <a:pPr marL="0" indent="0">
              <a:buNone/>
            </a:pPr>
            <a:r>
              <a:rPr lang="en-US" dirty="0">
                <a:latin typeface="Consolas" panose="020B0609020204030204" pitchFamily="49" charset="0"/>
              </a:rPr>
              <a:t>	</a:t>
            </a:r>
            <a:r>
              <a:rPr lang="ro-RO" dirty="0">
                <a:latin typeface="Consolas" panose="020B0609020204030204" pitchFamily="49" charset="0"/>
              </a:rPr>
              <a:t>(cod_f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PRIMARY KEY</a:t>
            </a: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00FF00"/>
                </a:highlight>
                <a:latin typeface="Consolas" panose="020B0609020204030204" pitchFamily="49" charset="0"/>
              </a:rPr>
              <a:t>IDENTITY</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titlu </a:t>
            </a:r>
            <a:r>
              <a:rPr lang="ro-RO" dirty="0">
                <a:solidFill>
                  <a:srgbClr val="0000FF">
                    <a:alpha val="60000"/>
                  </a:srgbClr>
                </a:solidFill>
                <a:latin typeface="Consolas" panose="020B0609020204030204" pitchFamily="49" charset="0"/>
              </a:rPr>
              <a:t>NVARCHAR(200)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durata </a:t>
            </a:r>
            <a:r>
              <a:rPr lang="ro-RO" dirty="0">
                <a:solidFill>
                  <a:srgbClr val="0000FF">
                    <a:alpha val="60000"/>
                  </a:srgbClr>
                </a:solidFill>
                <a:latin typeface="Consolas" panose="020B0609020204030204" pitchFamily="49" charset="0"/>
              </a:rPr>
              <a:t>TIME</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limba </a:t>
            </a:r>
            <a:r>
              <a:rPr lang="ro-RO" dirty="0">
                <a:solidFill>
                  <a:srgbClr val="0000FF">
                    <a:alpha val="60000"/>
                  </a:srgbClr>
                </a:solidFill>
                <a:latin typeface="Consolas" panose="020B0609020204030204" pitchFamily="49" charset="0"/>
              </a:rPr>
              <a:t>NVARCHAR(100)</a:t>
            </a:r>
            <a:r>
              <a:rPr lang="ro-RO" dirty="0">
                <a:latin typeface="Consolas" panose="020B0609020204030204" pitchFamily="49" charset="0"/>
              </a:rPr>
              <a:t>,</a:t>
            </a:r>
          </a:p>
          <a:p>
            <a:pPr marL="0" indent="0">
              <a:buNone/>
            </a:pPr>
            <a:r>
              <a:rPr lang="en-US" dirty="0">
                <a:latin typeface="Consolas" panose="020B0609020204030204" pitchFamily="49" charset="0"/>
              </a:rPr>
              <a:t>	</a:t>
            </a:r>
            <a:r>
              <a:rPr lang="ro-RO" dirty="0">
                <a:latin typeface="Consolas" panose="020B0609020204030204" pitchFamily="49" charset="0"/>
              </a:rPr>
              <a:t>cod_c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endParaRPr lang="ro-RO" dirty="0">
              <a:solidFill>
                <a:srgbClr val="0000FF">
                  <a:alpha val="60000"/>
                </a:srgbClr>
              </a:solidFill>
              <a:latin typeface="Consolas" panose="020B0609020204030204" pitchFamily="49" charset="0"/>
            </a:endParaRPr>
          </a:p>
          <a:p>
            <a:pPr marL="0" indent="0">
              <a:buNone/>
            </a:pPr>
            <a:r>
              <a:rPr lang="ro-RO" dirty="0">
                <a:solidFill>
                  <a:srgbClr val="0000FF">
                    <a:alpha val="60000"/>
                  </a:srgbClr>
                </a:solidFill>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 </a:t>
            </a:r>
            <a:r>
              <a:rPr lang="ro-RO" sz="2100" dirty="0">
                <a:highlight>
                  <a:srgbClr val="FFFF00"/>
                </a:highlight>
                <a:latin typeface="Consolas" panose="020B0609020204030204" pitchFamily="49" charset="0"/>
              </a:rPr>
              <a:t>fk_CompaniiFilme </a:t>
            </a:r>
            <a:r>
              <a:rPr lang="ro-RO" dirty="0">
                <a:solidFill>
                  <a:srgbClr val="0000FF">
                    <a:alpha val="60000"/>
                  </a:srgbClr>
                </a:solidFill>
                <a:highlight>
                  <a:srgbClr val="FFFF00"/>
                </a:highlight>
                <a:latin typeface="Consolas" panose="020B0609020204030204" pitchFamily="49" charset="0"/>
              </a:rPr>
              <a:t>FOREIGN KEY </a:t>
            </a:r>
            <a:r>
              <a:rPr lang="ro-RO" sz="2100" dirty="0">
                <a:highlight>
                  <a:srgbClr val="FFFF00"/>
                </a:highlight>
                <a:latin typeface="Consolas" panose="020B0609020204030204" pitchFamily="49" charset="0"/>
              </a:rPr>
              <a:t>(cod_c) </a:t>
            </a:r>
            <a:r>
              <a:rPr lang="ro-RO" dirty="0">
                <a:solidFill>
                  <a:srgbClr val="0000FF">
                    <a:alpha val="60000"/>
                  </a:srgbClr>
                </a:solidFill>
                <a:highlight>
                  <a:srgbClr val="FFFF00"/>
                </a:highlight>
                <a:latin typeface="Consolas" panose="020B0609020204030204" pitchFamily="49" charset="0"/>
              </a:rPr>
              <a:t>REFERENCES</a:t>
            </a:r>
            <a:r>
              <a:rPr lang="ro-RO" dirty="0">
                <a:highlight>
                  <a:srgbClr val="FFFF00"/>
                </a:highlight>
                <a:latin typeface="Consolas" panose="020B0609020204030204" pitchFamily="49" charset="0"/>
              </a:rPr>
              <a:t> </a:t>
            </a:r>
            <a:r>
              <a:rPr lang="ro-RO" dirty="0">
                <a:latin typeface="Consolas" panose="020B0609020204030204" pitchFamily="49" charset="0"/>
              </a:rPr>
              <a:t>	</a:t>
            </a:r>
            <a:r>
              <a:rPr lang="ro-RO" dirty="0">
                <a:highlight>
                  <a:srgbClr val="FFFF00"/>
                </a:highlight>
                <a:latin typeface="Consolas" panose="020B0609020204030204" pitchFamily="49" charset="0"/>
              </a:rPr>
              <a:t>Companii(cod_c) </a:t>
            </a:r>
            <a:r>
              <a:rPr lang="ro-RO" dirty="0">
                <a:solidFill>
                  <a:srgbClr val="0000FF">
                    <a:alpha val="60000"/>
                  </a:srgbClr>
                </a:solidFill>
                <a:highlight>
                  <a:srgbClr val="FFFF00"/>
                </a:highlight>
                <a:latin typeface="Consolas" panose="020B0609020204030204" pitchFamily="49" charset="0"/>
              </a:rPr>
              <a:t>ON</a:t>
            </a:r>
            <a:r>
              <a:rPr lang="ro-RO" dirty="0">
                <a:highlight>
                  <a:srgbClr val="FFFF00"/>
                </a:highlight>
                <a:latin typeface="Consolas" panose="020B0609020204030204" pitchFamily="49" charset="0"/>
              </a:rPr>
              <a:t> </a:t>
            </a:r>
            <a:r>
              <a:rPr lang="ro-RO" dirty="0">
                <a:solidFill>
                  <a:srgbClr val="FF00FF">
                    <a:alpha val="60000"/>
                  </a:srgbClr>
                </a:solidFill>
                <a:highlight>
                  <a:srgbClr val="FFFF00"/>
                </a:highlight>
                <a:latin typeface="Consolas" panose="020B0609020204030204" pitchFamily="49" charset="0"/>
              </a:rPr>
              <a:t>UPDATE</a:t>
            </a:r>
            <a:r>
              <a:rPr lang="ro-RO" dirty="0">
                <a:highlight>
                  <a:srgbClr val="FFFF00"/>
                </a:highlight>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CASCADE 	ON DELETE CASCADE</a:t>
            </a:r>
          </a:p>
          <a:p>
            <a:pPr marL="0" indent="0">
              <a:buNone/>
            </a:pPr>
            <a:r>
              <a:rPr lang="en-US" dirty="0">
                <a:latin typeface="Consolas" panose="020B0609020204030204" pitchFamily="49" charset="0"/>
              </a:rPr>
              <a:t>	</a:t>
            </a:r>
            <a:r>
              <a:rPr lang="ro-RO" dirty="0">
                <a:latin typeface="Consolas" panose="020B0609020204030204" pitchFamily="49" charset="0"/>
              </a:rPr>
              <a:t>);</a:t>
            </a:r>
          </a:p>
        </p:txBody>
      </p:sp>
      <p:cxnSp>
        <p:nvCxnSpPr>
          <p:cNvPr id="4" name="Straight Arrow Connector 3">
            <a:extLst>
              <a:ext uri="{FF2B5EF4-FFF2-40B4-BE49-F238E27FC236}">
                <a16:creationId xmlns:a16="http://schemas.microsoft.com/office/drawing/2014/main" id="{C258103C-A170-FE96-3017-808CFCE3873A}"/>
              </a:ext>
            </a:extLst>
          </p:cNvPr>
          <p:cNvCxnSpPr>
            <a:cxnSpLocks/>
          </p:cNvCxnSpPr>
          <p:nvPr/>
        </p:nvCxnSpPr>
        <p:spPr>
          <a:xfrm flipH="1">
            <a:off x="6096000" y="4791806"/>
            <a:ext cx="739806" cy="4882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70B7C7D4-0774-BF01-4D28-F969B77961A6}"/>
              </a:ext>
            </a:extLst>
          </p:cNvPr>
          <p:cNvSpPr txBox="1"/>
          <p:nvPr/>
        </p:nvSpPr>
        <p:spPr>
          <a:xfrm>
            <a:off x="6835806" y="4518240"/>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Tree>
    <p:extLst>
      <p:ext uri="{BB962C8B-B14F-4D97-AF65-F5344CB8AC3E}">
        <p14:creationId xmlns:p14="http://schemas.microsoft.com/office/powerpoint/2010/main" val="3477088947"/>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7BB25-0AFF-2387-E719-C66D691E0339}"/>
              </a:ext>
            </a:extLst>
          </p:cNvPr>
          <p:cNvSpPr>
            <a:spLocks noGrp="1"/>
          </p:cNvSpPr>
          <p:nvPr>
            <p:ph type="title"/>
          </p:nvPr>
        </p:nvSpPr>
        <p:spPr/>
        <p:txBody>
          <a:bodyPr/>
          <a:lstStyle/>
          <a:p>
            <a:r>
              <a:rPr lang="ro-RO" dirty="0">
                <a:latin typeface="+mn-lt"/>
              </a:rPr>
              <a:t>Observații</a:t>
            </a:r>
          </a:p>
        </p:txBody>
      </p:sp>
      <p:sp>
        <p:nvSpPr>
          <p:cNvPr id="3" name="Content Placeholder 2">
            <a:extLst>
              <a:ext uri="{FF2B5EF4-FFF2-40B4-BE49-F238E27FC236}">
                <a16:creationId xmlns:a16="http://schemas.microsoft.com/office/drawing/2014/main" id="{CB96AA78-86DD-35CE-ECBF-629F5E9BD88A}"/>
              </a:ext>
            </a:extLst>
          </p:cNvPr>
          <p:cNvSpPr>
            <a:spLocks noGrp="1"/>
          </p:cNvSpPr>
          <p:nvPr>
            <p:ph idx="1"/>
          </p:nvPr>
        </p:nvSpPr>
        <p:spPr>
          <a:xfrm>
            <a:off x="989400" y="1685925"/>
            <a:ext cx="11039843" cy="4936817"/>
          </a:xfrm>
        </p:spPr>
        <p:txBody>
          <a:bodyPr>
            <a:normAutofit/>
          </a:bodyPr>
          <a:lstStyle/>
          <a:p>
            <a:r>
              <a:rPr lang="ro-RO" b="1" dirty="0"/>
              <a:t>Constrângerea FOREIGN KEY </a:t>
            </a:r>
            <a:r>
              <a:rPr lang="ro-RO" dirty="0"/>
              <a:t>se folosește pentru a crea relații între tabele</a:t>
            </a:r>
          </a:p>
          <a:p>
            <a:r>
              <a:rPr lang="en-US" dirty="0"/>
              <a:t>O </a:t>
            </a:r>
            <a:r>
              <a:rPr lang="en-US" dirty="0" err="1"/>
              <a:t>coloan</a:t>
            </a:r>
            <a:r>
              <a:rPr lang="ro-RO" dirty="0"/>
              <a:t>ă pe care este definită o constrângere </a:t>
            </a:r>
            <a:r>
              <a:rPr lang="ro-RO" b="1" dirty="0"/>
              <a:t>FOREIGN KEY </a:t>
            </a:r>
            <a:r>
              <a:rPr lang="ro-RO" dirty="0"/>
              <a:t>este conectată la o coloană pe care este definită o constrângere </a:t>
            </a:r>
            <a:r>
              <a:rPr lang="ro-RO" b="1" dirty="0"/>
              <a:t>PRIMARY KEY </a:t>
            </a:r>
            <a:r>
              <a:rPr lang="ro-RO" dirty="0"/>
              <a:t>(de obicei dintr-un alt tabel)</a:t>
            </a:r>
          </a:p>
          <a:p>
            <a:r>
              <a:rPr lang="ro-RO" dirty="0"/>
              <a:t>Constrângerea </a:t>
            </a:r>
            <a:r>
              <a:rPr lang="ro-RO" b="1" dirty="0"/>
              <a:t>FOREIGN KEY </a:t>
            </a:r>
            <a:r>
              <a:rPr lang="ro-RO" dirty="0"/>
              <a:t>este folosită pentru a preveni acțiuni care ar distruge legăturile dintre cele două tabele, dar și pentru a împiedica introducerea unor date invalide care nu se regăsesc în coloana pe care este definită constrângerea </a:t>
            </a:r>
            <a:r>
              <a:rPr lang="ro-RO" b="1" dirty="0"/>
              <a:t>PRIMARY KEY</a:t>
            </a:r>
          </a:p>
          <a:p>
            <a:r>
              <a:rPr lang="ro-RO" dirty="0"/>
              <a:t>Nu se pot face modificări în tabelul care conține con</a:t>
            </a:r>
            <a:r>
              <a:rPr lang="en-US" dirty="0"/>
              <a:t>str</a:t>
            </a:r>
            <a:r>
              <a:rPr lang="ro-RO" dirty="0"/>
              <a:t>ângerea </a:t>
            </a:r>
            <a:r>
              <a:rPr lang="ro-RO" b="1" dirty="0"/>
              <a:t>PRIMARY KEY </a:t>
            </a:r>
            <a:r>
              <a:rPr lang="ro-RO" dirty="0"/>
              <a:t>dacă aceste modificări distrug legături spre date din tabelul care conține constrângerea </a:t>
            </a:r>
            <a:r>
              <a:rPr lang="ro-RO" b="1" dirty="0"/>
              <a:t>FOREIGN KEY </a:t>
            </a:r>
          </a:p>
          <a:p>
            <a:endParaRPr lang="ro-RO" b="1" dirty="0"/>
          </a:p>
        </p:txBody>
      </p:sp>
    </p:spTree>
    <p:extLst>
      <p:ext uri="{BB962C8B-B14F-4D97-AF65-F5344CB8AC3E}">
        <p14:creationId xmlns:p14="http://schemas.microsoft.com/office/powerpoint/2010/main" val="2660260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B9214-703E-F3A5-2E26-3BEF35FF35B1}"/>
              </a:ext>
            </a:extLst>
          </p:cNvPr>
          <p:cNvSpPr>
            <a:spLocks noGrp="1"/>
          </p:cNvSpPr>
          <p:nvPr>
            <p:ph type="title"/>
          </p:nvPr>
        </p:nvSpPr>
        <p:spPr/>
        <p:txBody>
          <a:bodyPr/>
          <a:lstStyle/>
          <a:p>
            <a:r>
              <a:rPr lang="ro-RO" dirty="0">
                <a:latin typeface="+mn-lt"/>
              </a:rPr>
              <a:t>Observații</a:t>
            </a:r>
            <a:endParaRPr lang="ro-RO" dirty="0"/>
          </a:p>
        </p:txBody>
      </p:sp>
      <p:sp>
        <p:nvSpPr>
          <p:cNvPr id="3" name="Content Placeholder 2">
            <a:extLst>
              <a:ext uri="{FF2B5EF4-FFF2-40B4-BE49-F238E27FC236}">
                <a16:creationId xmlns:a16="http://schemas.microsoft.com/office/drawing/2014/main" id="{FDA5365F-D0BA-FAD0-8B43-BB500D345A19}"/>
              </a:ext>
            </a:extLst>
          </p:cNvPr>
          <p:cNvSpPr>
            <a:spLocks noGrp="1"/>
          </p:cNvSpPr>
          <p:nvPr>
            <p:ph idx="1"/>
          </p:nvPr>
        </p:nvSpPr>
        <p:spPr>
          <a:xfrm>
            <a:off x="989399" y="1685925"/>
            <a:ext cx="10649226" cy="5061104"/>
          </a:xfrm>
        </p:spPr>
        <p:txBody>
          <a:bodyPr>
            <a:normAutofit/>
          </a:bodyPr>
          <a:lstStyle/>
          <a:p>
            <a:r>
              <a:rPr lang="ro-RO" sz="2400" dirty="0"/>
              <a:t>La crearea unei constrângeri </a:t>
            </a:r>
            <a:r>
              <a:rPr lang="ro-RO" sz="2400" b="1" dirty="0"/>
              <a:t>FOREIGN KEY</a:t>
            </a:r>
            <a:r>
              <a:rPr lang="ro-RO" sz="2400" dirty="0"/>
              <a:t>, se pot specifica acțiuni care să aibă loc în cazul operațiilor de </a:t>
            </a:r>
            <a:r>
              <a:rPr lang="ro-RO" sz="2400" b="1" dirty="0"/>
              <a:t>modificare</a:t>
            </a:r>
            <a:r>
              <a:rPr lang="ro-RO" sz="2400" dirty="0"/>
              <a:t> sau </a:t>
            </a:r>
            <a:r>
              <a:rPr lang="ro-RO" sz="2400" b="1" dirty="0"/>
              <a:t>ștergere</a:t>
            </a:r>
            <a:r>
              <a:rPr lang="ro-RO" sz="2400" dirty="0"/>
              <a:t> a valorilor din coloana pe care este definită constrângerea </a:t>
            </a:r>
            <a:r>
              <a:rPr lang="ro-RO" sz="2400" b="1" dirty="0"/>
              <a:t>PRIMARY KEY </a:t>
            </a:r>
            <a:r>
              <a:rPr lang="ro-RO" sz="2400" dirty="0"/>
              <a:t>din celălalt tabel:</a:t>
            </a:r>
          </a:p>
          <a:p>
            <a:pPr lvl="2"/>
            <a:r>
              <a:rPr lang="ro-RO" sz="2000" dirty="0"/>
              <a:t>NO ACTION (default)</a:t>
            </a:r>
          </a:p>
          <a:p>
            <a:pPr lvl="2"/>
            <a:r>
              <a:rPr lang="ro-RO" sz="2000" dirty="0"/>
              <a:t>CASCADE</a:t>
            </a:r>
          </a:p>
          <a:p>
            <a:pPr lvl="2"/>
            <a:r>
              <a:rPr lang="ro-RO" sz="2000" dirty="0"/>
              <a:t>SET NULL</a:t>
            </a:r>
          </a:p>
          <a:p>
            <a:pPr lvl="2"/>
            <a:r>
              <a:rPr lang="ro-RO" sz="2000" dirty="0"/>
              <a:t>SET DEFAULT</a:t>
            </a:r>
          </a:p>
          <a:p>
            <a:pPr lvl="1"/>
            <a:endParaRPr lang="ro-RO" i="0" dirty="0"/>
          </a:p>
        </p:txBody>
      </p:sp>
    </p:spTree>
    <p:extLst>
      <p:ext uri="{BB962C8B-B14F-4D97-AF65-F5344CB8AC3E}">
        <p14:creationId xmlns:p14="http://schemas.microsoft.com/office/powerpoint/2010/main" val="270669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853412" cy="5172075"/>
          </a:xfrm>
        </p:spPr>
        <p:txBody>
          <a:bodyPr>
            <a:normAutofit fontScale="92500" lnSpcReduction="10000"/>
          </a:bodyPr>
          <a:lstStyle/>
          <a:p>
            <a:r>
              <a:rPr lang="ro-RO" dirty="0"/>
              <a:t>În final, se va crea tabelul de legătură (denumit </a:t>
            </a:r>
            <a:r>
              <a:rPr lang="ro-RO" i="1" dirty="0"/>
              <a:t>Note</a:t>
            </a:r>
            <a:r>
              <a:rPr lang="ro-RO" dirty="0"/>
              <a:t>) dintre </a:t>
            </a:r>
            <a:r>
              <a:rPr lang="ro-RO" i="1" dirty="0"/>
              <a:t>Filme</a:t>
            </a:r>
            <a:r>
              <a:rPr lang="ro-RO" dirty="0"/>
              <a:t> și </a:t>
            </a:r>
            <a:r>
              <a:rPr lang="ro-RO" i="1" dirty="0"/>
              <a:t>Utilizatori</a:t>
            </a:r>
            <a:r>
              <a:rPr lang="ro-RO" dirty="0"/>
              <a:t>, în care vor fi stocate notele date filmelor de către utilizatori:</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Note</a:t>
            </a:r>
          </a:p>
          <a:p>
            <a:pPr marL="0" indent="0">
              <a:buNone/>
            </a:pPr>
            <a:r>
              <a:rPr lang="ro-RO"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Note</a:t>
            </a:r>
          </a:p>
          <a:p>
            <a:pPr marL="0" indent="0">
              <a:buNone/>
            </a:pPr>
            <a:r>
              <a:rPr lang="ro-RO" dirty="0">
                <a:latin typeface="Consolas" panose="020B0609020204030204" pitchFamily="49" charset="0"/>
              </a:rPr>
              <a:t>	(cod_u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cod_f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nota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fk_UtilizatoriNote </a:t>
            </a:r>
            <a:r>
              <a:rPr lang="ro-RO" dirty="0">
                <a:solidFill>
                  <a:srgbClr val="0000FF">
                    <a:alpha val="60000"/>
                  </a:srgbClr>
                </a:solidFill>
                <a:highlight>
                  <a:srgbClr val="FFFF00"/>
                </a:highlight>
                <a:latin typeface="Consolas" panose="020B0609020204030204" pitchFamily="49" charset="0"/>
              </a:rPr>
              <a:t>FOREIGN KEY </a:t>
            </a:r>
            <a:r>
              <a:rPr lang="ro-RO" dirty="0">
                <a:highlight>
                  <a:srgbClr val="FFFF00"/>
                </a:highlight>
                <a:latin typeface="Consolas" panose="020B0609020204030204" pitchFamily="49" charset="0"/>
              </a:rPr>
              <a:t>(cod_u) </a:t>
            </a:r>
            <a:r>
              <a:rPr lang="ro-RO" dirty="0">
                <a:solidFill>
                  <a:srgbClr val="0000FF">
                    <a:alpha val="60000"/>
                  </a:srgbClr>
                </a:solidFill>
                <a:highlight>
                  <a:srgbClr val="FFFF00"/>
                </a:highlight>
                <a:latin typeface="Consolas" panose="020B0609020204030204" pitchFamily="49" charset="0"/>
              </a:rPr>
              <a:t>REFERENCES</a:t>
            </a:r>
            <a:r>
              <a:rPr lang="en-US" dirty="0">
                <a:solidFill>
                  <a:srgbClr val="0000FF">
                    <a:alpha val="60000"/>
                  </a:srgbClr>
                </a:solidFill>
                <a:highlight>
                  <a:srgbClr val="FFFF00"/>
                </a:highlight>
                <a:latin typeface="Consolas" panose="020B0609020204030204" pitchFamily="49" charset="0"/>
              </a:rPr>
              <a:t> </a:t>
            </a:r>
            <a:r>
              <a:rPr lang="en-US" dirty="0">
                <a:solidFill>
                  <a:srgbClr val="0000FF">
                    <a:alpha val="60000"/>
                  </a:srgbClr>
                </a:solidFill>
                <a:latin typeface="Consolas" panose="020B0609020204030204" pitchFamily="49" charset="0"/>
              </a:rPr>
              <a:t>	</a:t>
            </a:r>
            <a:r>
              <a:rPr lang="ro-RO" dirty="0">
                <a:highlight>
                  <a:srgbClr val="FFFF00"/>
                </a:highlight>
                <a:latin typeface="Consolas" panose="020B0609020204030204" pitchFamily="49" charset="0"/>
              </a:rPr>
              <a:t>Utilizatori(cod_u)</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fk_</a:t>
            </a:r>
            <a:r>
              <a:rPr lang="en-US" dirty="0" err="1">
                <a:highlight>
                  <a:srgbClr val="FFFF00"/>
                </a:highlight>
                <a:latin typeface="Consolas" panose="020B0609020204030204" pitchFamily="49" charset="0"/>
              </a:rPr>
              <a:t>Filme</a:t>
            </a:r>
            <a:r>
              <a:rPr lang="ro-RO" dirty="0">
                <a:highlight>
                  <a:srgbClr val="FFFF00"/>
                </a:highlight>
                <a:latin typeface="Consolas" panose="020B0609020204030204" pitchFamily="49" charset="0"/>
              </a:rPr>
              <a:t>Note </a:t>
            </a:r>
            <a:r>
              <a:rPr lang="ro-RO" dirty="0">
                <a:solidFill>
                  <a:srgbClr val="0000FF">
                    <a:alpha val="60000"/>
                  </a:srgbClr>
                </a:solidFill>
                <a:highlight>
                  <a:srgbClr val="FFFF00"/>
                </a:highlight>
                <a:latin typeface="Consolas" panose="020B0609020204030204" pitchFamily="49" charset="0"/>
              </a:rPr>
              <a:t>FOREIGN KEY </a:t>
            </a:r>
            <a:r>
              <a:rPr lang="ro-RO" dirty="0">
                <a:highlight>
                  <a:srgbClr val="FFFF00"/>
                </a:highlight>
                <a:latin typeface="Consolas" panose="020B0609020204030204" pitchFamily="49" charset="0"/>
              </a:rPr>
              <a:t>(cod_f) </a:t>
            </a:r>
            <a:r>
              <a:rPr lang="ro-RO" dirty="0">
                <a:solidFill>
                  <a:srgbClr val="0000FF">
                    <a:alpha val="60000"/>
                  </a:srgbClr>
                </a:solidFill>
                <a:highlight>
                  <a:srgbClr val="FFFF00"/>
                </a:highlight>
                <a:latin typeface="Consolas" panose="020B0609020204030204" pitchFamily="49" charset="0"/>
              </a:rPr>
              <a:t>REFERENCES</a:t>
            </a:r>
            <a:r>
              <a:rPr lang="ro-RO" dirty="0">
                <a:highlight>
                  <a:srgbClr val="FFFF00"/>
                </a:highlight>
                <a:latin typeface="Consolas" panose="020B0609020204030204" pitchFamily="49" charset="0"/>
              </a:rPr>
              <a:t> Filme(cod_f)</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pk_Note </a:t>
            </a:r>
            <a:r>
              <a:rPr lang="ro-RO" dirty="0">
                <a:solidFill>
                  <a:srgbClr val="0000FF">
                    <a:alpha val="60000"/>
                  </a:srgbClr>
                </a:solidFill>
                <a:highlight>
                  <a:srgbClr val="FFFF00"/>
                </a:highlight>
                <a:latin typeface="Consolas" panose="020B0609020204030204" pitchFamily="49" charset="0"/>
              </a:rPr>
              <a:t>PRIMARY KEY </a:t>
            </a:r>
            <a:r>
              <a:rPr lang="ro-RO" dirty="0">
                <a:highlight>
                  <a:srgbClr val="FFFF00"/>
                </a:highlight>
                <a:latin typeface="Consolas" panose="020B0609020204030204" pitchFamily="49" charset="0"/>
              </a:rPr>
              <a:t>(cod_u, cod_f)</a:t>
            </a:r>
          </a:p>
          <a:p>
            <a:pPr marL="0" indent="0">
              <a:buNone/>
            </a:pPr>
            <a:r>
              <a:rPr lang="ro-RO" dirty="0">
                <a:latin typeface="Consolas" panose="020B0609020204030204" pitchFamily="49" charset="0"/>
              </a:rPr>
              <a:t>	);</a:t>
            </a:r>
          </a:p>
        </p:txBody>
      </p:sp>
      <p:sp>
        <p:nvSpPr>
          <p:cNvPr id="4" name="TextBox 3">
            <a:extLst>
              <a:ext uri="{FF2B5EF4-FFF2-40B4-BE49-F238E27FC236}">
                <a16:creationId xmlns:a16="http://schemas.microsoft.com/office/drawing/2014/main" id="{6F6488C5-35CC-E716-861B-9DB95A69093B}"/>
              </a:ext>
            </a:extLst>
          </p:cNvPr>
          <p:cNvSpPr txBox="1"/>
          <p:nvPr/>
        </p:nvSpPr>
        <p:spPr>
          <a:xfrm>
            <a:off x="8927237" y="4151622"/>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
        <p:nvSpPr>
          <p:cNvPr id="5" name="TextBox 4">
            <a:extLst>
              <a:ext uri="{FF2B5EF4-FFF2-40B4-BE49-F238E27FC236}">
                <a16:creationId xmlns:a16="http://schemas.microsoft.com/office/drawing/2014/main" id="{46E144B9-B92A-C28A-8D68-76E99ECF95D2}"/>
              </a:ext>
            </a:extLst>
          </p:cNvPr>
          <p:cNvSpPr txBox="1"/>
          <p:nvPr/>
        </p:nvSpPr>
        <p:spPr>
          <a:xfrm>
            <a:off x="8752643" y="5786892"/>
            <a:ext cx="3264763" cy="646331"/>
          </a:xfrm>
          <a:prstGeom prst="rect">
            <a:avLst/>
          </a:prstGeom>
          <a:noFill/>
        </p:spPr>
        <p:txBody>
          <a:bodyPr wrap="square" rtlCol="0">
            <a:spAutoFit/>
          </a:bodyPr>
          <a:lstStyle/>
          <a:p>
            <a:r>
              <a:rPr lang="ro-RO" dirty="0"/>
              <a:t>Constrângere </a:t>
            </a:r>
            <a:r>
              <a:rPr lang="ro-RO" dirty="0">
                <a:solidFill>
                  <a:srgbClr val="0000FF"/>
                </a:solidFill>
              </a:rPr>
              <a:t>PRIMARY KEY</a:t>
            </a:r>
          </a:p>
          <a:p>
            <a:r>
              <a:rPr lang="ro-RO" dirty="0"/>
              <a:t>compusă din două coloane</a:t>
            </a:r>
          </a:p>
        </p:txBody>
      </p:sp>
      <p:cxnSp>
        <p:nvCxnSpPr>
          <p:cNvPr id="6" name="Straight Arrow Connector 5">
            <a:extLst>
              <a:ext uri="{FF2B5EF4-FFF2-40B4-BE49-F238E27FC236}">
                <a16:creationId xmlns:a16="http://schemas.microsoft.com/office/drawing/2014/main" id="{556BEA1B-F255-2B49-74F2-A48F7FFAFC3D}"/>
              </a:ext>
            </a:extLst>
          </p:cNvPr>
          <p:cNvCxnSpPr>
            <a:cxnSpLocks/>
          </p:cNvCxnSpPr>
          <p:nvPr/>
        </p:nvCxnSpPr>
        <p:spPr>
          <a:xfrm flipH="1">
            <a:off x="8018756" y="5985470"/>
            <a:ext cx="764959"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76C1BC5-93B3-51BC-0930-7DD083E031D6}"/>
              </a:ext>
            </a:extLst>
          </p:cNvPr>
          <p:cNvCxnSpPr>
            <a:cxnSpLocks/>
          </p:cNvCxnSpPr>
          <p:nvPr/>
        </p:nvCxnSpPr>
        <p:spPr>
          <a:xfrm flipH="1">
            <a:off x="8487052" y="4431619"/>
            <a:ext cx="511207" cy="2671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or: Elbow 15">
            <a:extLst>
              <a:ext uri="{FF2B5EF4-FFF2-40B4-BE49-F238E27FC236}">
                <a16:creationId xmlns:a16="http://schemas.microsoft.com/office/drawing/2014/main" id="{CD094DA4-BED0-FDCC-E9ED-B34471E267B5}"/>
              </a:ext>
            </a:extLst>
          </p:cNvPr>
          <p:cNvCxnSpPr>
            <a:cxnSpLocks/>
          </p:cNvCxnSpPr>
          <p:nvPr/>
        </p:nvCxnSpPr>
        <p:spPr>
          <a:xfrm rot="5400000">
            <a:off x="10651880" y="4492127"/>
            <a:ext cx="887456" cy="76644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7316122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853412" cy="5172075"/>
          </a:xfrm>
        </p:spPr>
        <p:txBody>
          <a:bodyPr>
            <a:normAutofit/>
          </a:bodyPr>
          <a:lstStyle/>
          <a:p>
            <a:r>
              <a:rPr lang="ro-RO" dirty="0"/>
              <a:t>O altă variantă de a crea tabelul de legătură (denumit </a:t>
            </a:r>
            <a:r>
              <a:rPr lang="ro-RO" i="1" dirty="0"/>
              <a:t>Note</a:t>
            </a:r>
            <a:r>
              <a:rPr lang="ro-RO" dirty="0"/>
              <a:t>) dintre </a:t>
            </a:r>
            <a:r>
              <a:rPr lang="ro-RO" i="1" dirty="0"/>
              <a:t>Filme</a:t>
            </a:r>
            <a:r>
              <a:rPr lang="ro-RO" dirty="0"/>
              <a:t> și </a:t>
            </a:r>
            <a:r>
              <a:rPr lang="ro-RO" i="1" dirty="0"/>
              <a:t>Utilizatori</a:t>
            </a:r>
            <a:r>
              <a:rPr lang="ro-RO" dirty="0"/>
              <a:t>, în care vor fi stocate notele date filmelor de către utilizatori:</a:t>
            </a:r>
          </a:p>
          <a:p>
            <a:pPr marL="0" indent="0">
              <a:buNone/>
            </a:pPr>
            <a:r>
              <a:rPr lang="ro-RO" dirty="0"/>
              <a:t>	</a:t>
            </a:r>
            <a:r>
              <a:rPr lang="en-US"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tabelului Note</a:t>
            </a:r>
          </a:p>
          <a:p>
            <a:pPr marL="0" indent="0">
              <a:buNone/>
            </a:pPr>
            <a:r>
              <a:rPr lang="ro-RO" dirty="0"/>
              <a:t>	</a:t>
            </a:r>
            <a:r>
              <a:rPr lang="ro-RO" dirty="0">
                <a:solidFill>
                  <a:srgbClr val="0000FF">
                    <a:alpha val="60000"/>
                  </a:srgbClr>
                </a:solidFill>
                <a:latin typeface="Consolas" panose="020B0609020204030204" pitchFamily="49" charset="0"/>
              </a:rPr>
              <a:t>CREATE TABLE </a:t>
            </a:r>
            <a:r>
              <a:rPr lang="ro-RO" dirty="0">
                <a:latin typeface="Consolas" panose="020B0609020204030204" pitchFamily="49" charset="0"/>
              </a:rPr>
              <a:t>Note</a:t>
            </a:r>
          </a:p>
          <a:p>
            <a:pPr marL="0" indent="0">
              <a:buNone/>
            </a:pPr>
            <a:r>
              <a:rPr lang="ro-RO" dirty="0">
                <a:latin typeface="Consolas" panose="020B0609020204030204" pitchFamily="49" charset="0"/>
              </a:rPr>
              <a:t>	(cod_u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FOREIGN KEY REFERENCES</a:t>
            </a:r>
            <a:r>
              <a:rPr lang="en-US" dirty="0">
                <a:solidFill>
                  <a:srgbClr val="0000FF">
                    <a:alpha val="60000"/>
                  </a:srgbClr>
                </a:solidFill>
                <a:highlight>
                  <a:srgbClr val="FFFF00"/>
                </a:highlight>
                <a:latin typeface="Consolas" panose="020B0609020204030204" pitchFamily="49" charset="0"/>
              </a:rPr>
              <a:t> </a:t>
            </a:r>
            <a:r>
              <a:rPr lang="ro-RO" dirty="0">
                <a:highlight>
                  <a:srgbClr val="FFFF00"/>
                </a:highlight>
                <a:latin typeface="Consolas" panose="020B0609020204030204" pitchFamily="49" charset="0"/>
              </a:rPr>
              <a:t>Utilizatori(cod_u)</a:t>
            </a:r>
            <a:r>
              <a:rPr lang="ro-RO" dirty="0">
                <a:latin typeface="Consolas" panose="020B0609020204030204" pitchFamily="49" charset="0"/>
              </a:rPr>
              <a:t>,</a:t>
            </a:r>
          </a:p>
          <a:p>
            <a:pPr marL="0" indent="0">
              <a:buNone/>
            </a:pPr>
            <a:r>
              <a:rPr lang="ro-RO" dirty="0">
                <a:latin typeface="Consolas" panose="020B0609020204030204" pitchFamily="49" charset="0"/>
              </a:rPr>
              <a:t>	cod_f </a:t>
            </a:r>
            <a:r>
              <a:rPr lang="ro-RO" dirty="0">
                <a:solidFill>
                  <a:srgbClr val="0000FF">
                    <a:alpha val="60000"/>
                  </a:srgbClr>
                </a:solidFill>
                <a:latin typeface="Consolas" panose="020B0609020204030204" pitchFamily="49" charset="0"/>
              </a:rPr>
              <a:t>INT </a:t>
            </a:r>
            <a:r>
              <a:rPr lang="ro-RO" dirty="0">
                <a:solidFill>
                  <a:srgbClr val="0000FF">
                    <a:alpha val="60000"/>
                  </a:srgbClr>
                </a:solidFill>
                <a:highlight>
                  <a:srgbClr val="FFFF00"/>
                </a:highlight>
                <a:latin typeface="Consolas" panose="020B0609020204030204" pitchFamily="49" charset="0"/>
              </a:rPr>
              <a:t>FOREIGN KEY REFERENCES</a:t>
            </a:r>
            <a:r>
              <a:rPr lang="ro-RO" dirty="0">
                <a:highlight>
                  <a:srgbClr val="FFFF00"/>
                </a:highlight>
                <a:latin typeface="Consolas" panose="020B0609020204030204" pitchFamily="49" charset="0"/>
              </a:rPr>
              <a:t> Filme(cod_f)</a:t>
            </a:r>
            <a:r>
              <a:rPr lang="ro-RO" dirty="0">
                <a:latin typeface="Consolas" panose="020B0609020204030204" pitchFamily="49" charset="0"/>
              </a:rPr>
              <a:t>,</a:t>
            </a:r>
          </a:p>
          <a:p>
            <a:pPr marL="0" indent="0">
              <a:buNone/>
            </a:pPr>
            <a:r>
              <a:rPr lang="ro-RO" dirty="0">
                <a:latin typeface="Consolas" panose="020B0609020204030204" pitchFamily="49" charset="0"/>
              </a:rPr>
              <a:t>	nota </a:t>
            </a:r>
            <a:r>
              <a:rPr lang="ro-RO" dirty="0">
                <a:solidFill>
                  <a:srgbClr val="0000FF">
                    <a:alpha val="60000"/>
                  </a:srgbClr>
                </a:solidFill>
                <a:latin typeface="Consolas" panose="020B0609020204030204" pitchFamily="49" charset="0"/>
              </a:rPr>
              <a:t>INT</a:t>
            </a:r>
            <a:r>
              <a:rPr lang="ro-RO" dirty="0">
                <a:latin typeface="Consolas" panose="020B0609020204030204" pitchFamily="49" charset="0"/>
              </a:rPr>
              <a:t>,</a:t>
            </a:r>
          </a:p>
          <a:p>
            <a:pPr marL="0" indent="0">
              <a:buNone/>
            </a:pPr>
            <a:r>
              <a:rPr lang="ro-RO" dirty="0">
                <a:latin typeface="Consolas" panose="020B0609020204030204" pitchFamily="49" charset="0"/>
              </a:rPr>
              <a:t>	</a:t>
            </a:r>
            <a:r>
              <a:rPr lang="ro-RO" dirty="0">
                <a:solidFill>
                  <a:srgbClr val="0000FF">
                    <a:alpha val="60000"/>
                  </a:srgbClr>
                </a:solidFill>
                <a:highlight>
                  <a:srgbClr val="FFFF00"/>
                </a:highlight>
                <a:latin typeface="Consolas" panose="020B0609020204030204" pitchFamily="49" charset="0"/>
              </a:rPr>
              <a:t>CONSTRAINT</a:t>
            </a:r>
            <a:r>
              <a:rPr lang="ro-RO" dirty="0">
                <a:highlight>
                  <a:srgbClr val="FFFF00"/>
                </a:highlight>
                <a:latin typeface="Consolas" panose="020B0609020204030204" pitchFamily="49" charset="0"/>
              </a:rPr>
              <a:t> pk_Note </a:t>
            </a:r>
            <a:r>
              <a:rPr lang="ro-RO" dirty="0">
                <a:solidFill>
                  <a:srgbClr val="0000FF">
                    <a:alpha val="60000"/>
                  </a:srgbClr>
                </a:solidFill>
                <a:highlight>
                  <a:srgbClr val="FFFF00"/>
                </a:highlight>
                <a:latin typeface="Consolas" panose="020B0609020204030204" pitchFamily="49" charset="0"/>
              </a:rPr>
              <a:t>PRIMARY KEY </a:t>
            </a:r>
            <a:r>
              <a:rPr lang="ro-RO" dirty="0">
                <a:highlight>
                  <a:srgbClr val="FFFF00"/>
                </a:highlight>
                <a:latin typeface="Consolas" panose="020B0609020204030204" pitchFamily="49" charset="0"/>
              </a:rPr>
              <a:t>(cod_u, cod_f)</a:t>
            </a:r>
          </a:p>
          <a:p>
            <a:pPr marL="0" indent="0">
              <a:buNone/>
            </a:pPr>
            <a:r>
              <a:rPr lang="ro-RO" dirty="0">
                <a:latin typeface="Consolas" panose="020B0609020204030204" pitchFamily="49" charset="0"/>
              </a:rPr>
              <a:t>	);</a:t>
            </a:r>
          </a:p>
        </p:txBody>
      </p:sp>
      <p:sp>
        <p:nvSpPr>
          <p:cNvPr id="4" name="TextBox 3">
            <a:extLst>
              <a:ext uri="{FF2B5EF4-FFF2-40B4-BE49-F238E27FC236}">
                <a16:creationId xmlns:a16="http://schemas.microsoft.com/office/drawing/2014/main" id="{6F6488C5-35CC-E716-861B-9DB95A69093B}"/>
              </a:ext>
            </a:extLst>
          </p:cNvPr>
          <p:cNvSpPr txBox="1"/>
          <p:nvPr/>
        </p:nvSpPr>
        <p:spPr>
          <a:xfrm>
            <a:off x="8550678" y="2865879"/>
            <a:ext cx="3264763" cy="369332"/>
          </a:xfrm>
          <a:prstGeom prst="rect">
            <a:avLst/>
          </a:prstGeom>
          <a:noFill/>
        </p:spPr>
        <p:txBody>
          <a:bodyPr wrap="square" rtlCol="0">
            <a:spAutoFit/>
          </a:bodyPr>
          <a:lstStyle/>
          <a:p>
            <a:r>
              <a:rPr lang="ro-RO" dirty="0"/>
              <a:t>Constrângere </a:t>
            </a:r>
            <a:r>
              <a:rPr lang="ro-RO" dirty="0">
                <a:solidFill>
                  <a:srgbClr val="0000FF"/>
                </a:solidFill>
              </a:rPr>
              <a:t>FOREIGN KEY</a:t>
            </a:r>
          </a:p>
        </p:txBody>
      </p:sp>
      <p:sp>
        <p:nvSpPr>
          <p:cNvPr id="5" name="TextBox 4">
            <a:extLst>
              <a:ext uri="{FF2B5EF4-FFF2-40B4-BE49-F238E27FC236}">
                <a16:creationId xmlns:a16="http://schemas.microsoft.com/office/drawing/2014/main" id="{46E144B9-B92A-C28A-8D68-76E99ECF95D2}"/>
              </a:ext>
            </a:extLst>
          </p:cNvPr>
          <p:cNvSpPr txBox="1"/>
          <p:nvPr/>
        </p:nvSpPr>
        <p:spPr>
          <a:xfrm>
            <a:off x="9060033" y="4949929"/>
            <a:ext cx="3264763" cy="646331"/>
          </a:xfrm>
          <a:prstGeom prst="rect">
            <a:avLst/>
          </a:prstGeom>
          <a:noFill/>
        </p:spPr>
        <p:txBody>
          <a:bodyPr wrap="square" rtlCol="0">
            <a:spAutoFit/>
          </a:bodyPr>
          <a:lstStyle/>
          <a:p>
            <a:r>
              <a:rPr lang="ro-RO" dirty="0"/>
              <a:t>Constrângere </a:t>
            </a:r>
            <a:r>
              <a:rPr lang="ro-RO" dirty="0">
                <a:solidFill>
                  <a:srgbClr val="0000FF"/>
                </a:solidFill>
              </a:rPr>
              <a:t>PRIMARY KEY</a:t>
            </a:r>
          </a:p>
          <a:p>
            <a:r>
              <a:rPr lang="ro-RO" dirty="0"/>
              <a:t>compusă din două coloane</a:t>
            </a:r>
          </a:p>
        </p:txBody>
      </p:sp>
      <p:cxnSp>
        <p:nvCxnSpPr>
          <p:cNvPr id="6" name="Straight Arrow Connector 5">
            <a:extLst>
              <a:ext uri="{FF2B5EF4-FFF2-40B4-BE49-F238E27FC236}">
                <a16:creationId xmlns:a16="http://schemas.microsoft.com/office/drawing/2014/main" id="{556BEA1B-F255-2B49-74F2-A48F7FFAFC3D}"/>
              </a:ext>
            </a:extLst>
          </p:cNvPr>
          <p:cNvCxnSpPr>
            <a:cxnSpLocks/>
          </p:cNvCxnSpPr>
          <p:nvPr/>
        </p:nvCxnSpPr>
        <p:spPr>
          <a:xfrm flipH="1">
            <a:off x="8380520" y="5177360"/>
            <a:ext cx="679513"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8" name="Straight Arrow Connector 7">
            <a:extLst>
              <a:ext uri="{FF2B5EF4-FFF2-40B4-BE49-F238E27FC236}">
                <a16:creationId xmlns:a16="http://schemas.microsoft.com/office/drawing/2014/main" id="{176C1BC5-93B3-51BC-0930-7DD083E031D6}"/>
              </a:ext>
            </a:extLst>
          </p:cNvPr>
          <p:cNvCxnSpPr>
            <a:cxnSpLocks/>
          </p:cNvCxnSpPr>
          <p:nvPr/>
        </p:nvCxnSpPr>
        <p:spPr>
          <a:xfrm flipH="1">
            <a:off x="8267703" y="3181201"/>
            <a:ext cx="511207" cy="2671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6" name="Connector: Elbow 15">
            <a:extLst>
              <a:ext uri="{FF2B5EF4-FFF2-40B4-BE49-F238E27FC236}">
                <a16:creationId xmlns:a16="http://schemas.microsoft.com/office/drawing/2014/main" id="{CD094DA4-BED0-FDCC-E9ED-B34471E267B5}"/>
              </a:ext>
            </a:extLst>
          </p:cNvPr>
          <p:cNvCxnSpPr>
            <a:cxnSpLocks/>
          </p:cNvCxnSpPr>
          <p:nvPr/>
        </p:nvCxnSpPr>
        <p:spPr>
          <a:xfrm rot="10800000" flipV="1">
            <a:off x="8550681" y="3298068"/>
            <a:ext cx="1685273" cy="823390"/>
          </a:xfrm>
          <a:prstGeom prst="bentConnector3">
            <a:avLst>
              <a:gd name="adj1" fmla="val 483"/>
            </a:avLst>
          </a:prstGeom>
          <a:ln>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639338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738002" cy="5172075"/>
          </a:xfrm>
        </p:spPr>
        <p:txBody>
          <a:bodyPr>
            <a:normAutofit/>
          </a:bodyPr>
          <a:lstStyle/>
          <a:p>
            <a:r>
              <a:rPr lang="ro-RO" dirty="0"/>
              <a:t>În enunțul problemei se specifică faptul că atât </a:t>
            </a:r>
            <a:r>
              <a:rPr lang="ro-RO" b="1" dirty="0"/>
              <a:t>numele utilizatorului </a:t>
            </a:r>
            <a:r>
              <a:rPr lang="ro-RO" dirty="0"/>
              <a:t>cât și </a:t>
            </a:r>
            <a:r>
              <a:rPr lang="ro-RO" b="1" dirty="0"/>
              <a:t>adresa de email</a:t>
            </a:r>
            <a:r>
              <a:rPr lang="ro-RO" dirty="0"/>
              <a:t> trebuie să fie </a:t>
            </a:r>
            <a:r>
              <a:rPr lang="ro-RO" b="1" dirty="0"/>
              <a:t>unice</a:t>
            </a:r>
            <a:endParaRPr lang="en-US" b="1" dirty="0"/>
          </a:p>
          <a:p>
            <a:r>
              <a:rPr lang="en-US" dirty="0" err="1"/>
              <a:t>Dac</a:t>
            </a:r>
            <a:r>
              <a:rPr lang="ro-RO" dirty="0"/>
              <a:t>ă am omis specificarea unei constrângeri </a:t>
            </a:r>
            <a:r>
              <a:rPr lang="ro-RO" b="1" dirty="0"/>
              <a:t>UNIQUE</a:t>
            </a:r>
            <a:r>
              <a:rPr lang="ro-RO" dirty="0"/>
              <a:t> la crearea tabelului, aceasta se poate crea și </a:t>
            </a:r>
            <a:r>
              <a:rPr lang="ro-RO" b="1" dirty="0"/>
              <a:t>ulterior</a:t>
            </a:r>
            <a:r>
              <a:rPr lang="ro-RO" dirty="0"/>
              <a:t> cu ajutorul instrucțiunii </a:t>
            </a:r>
            <a:r>
              <a:rPr lang="ro-RO" b="1" i="1" dirty="0"/>
              <a:t>ALTER TABLE</a:t>
            </a:r>
            <a:r>
              <a:rPr lang="ro-RO" dirty="0"/>
              <a:t>:</a:t>
            </a:r>
          </a:p>
          <a:p>
            <a:pPr marL="0" indent="0">
              <a:buNone/>
            </a:pPr>
            <a:r>
              <a:rPr lang="ro-RO" dirty="0"/>
              <a:t>	</a:t>
            </a:r>
            <a:r>
              <a:rPr lang="ro-RO"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unei constrângeri UNIQUE pe coloana </a:t>
            </a:r>
            <a:r>
              <a:rPr lang="ro-RO" i="1" dirty="0">
                <a:solidFill>
                  <a:schemeClr val="accent1">
                    <a:lumMod val="75000"/>
                    <a:alpha val="60000"/>
                  </a:schemeClr>
                </a:solidFill>
              </a:rPr>
              <a:t>email</a:t>
            </a:r>
            <a:r>
              <a:rPr lang="ro-RO" dirty="0">
                <a:solidFill>
                  <a:schemeClr val="accent1">
                    <a:lumMod val="75000"/>
                    <a:alpha val="60000"/>
                  </a:schemeClr>
                </a:solidFill>
              </a:rPr>
              <a:t> </a:t>
            </a:r>
            <a:r>
              <a:rPr lang="en-US" dirty="0">
                <a:solidFill>
                  <a:schemeClr val="accent1">
                    <a:lumMod val="75000"/>
                    <a:alpha val="60000"/>
                  </a:schemeClr>
                </a:solidFill>
              </a:rPr>
              <a:t>din </a:t>
            </a:r>
            <a:r>
              <a:rPr lang="en-US" dirty="0" err="1">
                <a:solidFill>
                  <a:schemeClr val="accent1">
                    <a:lumMod val="75000"/>
                    <a:alpha val="60000"/>
                  </a:schemeClr>
                </a:solidFill>
              </a:rPr>
              <a:t>tabelul</a:t>
            </a:r>
            <a:r>
              <a:rPr lang="en-US" dirty="0">
                <a:solidFill>
                  <a:schemeClr val="accent1">
                    <a:lumMod val="75000"/>
                    <a:alpha val="60000"/>
                  </a:schemeClr>
                </a:solidFill>
              </a:rPr>
              <a:t> </a:t>
            </a:r>
            <a:r>
              <a:rPr lang="en-US" i="1" dirty="0" err="1">
                <a:solidFill>
                  <a:schemeClr val="accent1">
                    <a:lumMod val="75000"/>
                    <a:alpha val="60000"/>
                  </a:schemeClr>
                </a:solidFill>
              </a:rPr>
              <a:t>Utilizatori</a:t>
            </a:r>
            <a:r>
              <a:rPr lang="en-US" dirty="0">
                <a:solidFill>
                  <a:schemeClr val="accent1">
                    <a:lumMod val="75000"/>
                    <a:alpha val="60000"/>
                  </a:schemeClr>
                </a:solidFill>
              </a:rPr>
              <a:t> 	</a:t>
            </a:r>
            <a:r>
              <a:rPr lang="ro-RO" dirty="0">
                <a:solidFill>
                  <a:schemeClr val="accent1">
                    <a:lumMod val="75000"/>
                    <a:alpha val="60000"/>
                  </a:schemeClr>
                </a:solidFill>
              </a:rPr>
              <a:t>după crearea tabelului*/</a:t>
            </a: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Utilizatori</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CONSTRAINT </a:t>
            </a:r>
            <a:r>
              <a:rPr lang="ro-RO" dirty="0">
                <a:latin typeface="Consolas" panose="020B0609020204030204" pitchFamily="49" charset="0"/>
              </a:rPr>
              <a:t>uq_email </a:t>
            </a:r>
            <a:r>
              <a:rPr lang="ro-RO" dirty="0">
                <a:solidFill>
                  <a:srgbClr val="0000FF">
                    <a:alpha val="60000"/>
                  </a:srgbClr>
                </a:solidFill>
                <a:latin typeface="Consolas" panose="020B0609020204030204" pitchFamily="49" charset="0"/>
              </a:rPr>
              <a:t>UNIQUE</a:t>
            </a:r>
            <a:r>
              <a:rPr lang="ro-RO" dirty="0">
                <a:latin typeface="Consolas" panose="020B0609020204030204" pitchFamily="49" charset="0"/>
              </a:rPr>
              <a:t> (email)</a:t>
            </a:r>
            <a:r>
              <a:rPr lang="en-US" dirty="0">
                <a:latin typeface="Consolas" panose="020B0609020204030204" pitchFamily="49" charset="0"/>
              </a:rPr>
              <a:t>;</a:t>
            </a:r>
            <a:endParaRPr lang="ro-RO" dirty="0">
              <a:latin typeface="Consolas" panose="020B0609020204030204" pitchFamily="49" charset="0"/>
            </a:endParaRPr>
          </a:p>
          <a:p>
            <a:pPr marL="0" indent="0">
              <a:buNone/>
            </a:pPr>
            <a:r>
              <a:rPr lang="ro-RO" dirty="0">
                <a:latin typeface="Consolas" panose="020B0609020204030204" pitchFamily="49" charset="0"/>
              </a:rPr>
              <a:t>	</a:t>
            </a:r>
          </a:p>
        </p:txBody>
      </p:sp>
    </p:spTree>
    <p:extLst>
      <p:ext uri="{BB962C8B-B14F-4D97-AF65-F5344CB8AC3E}">
        <p14:creationId xmlns:p14="http://schemas.microsoft.com/office/powerpoint/2010/main" val="336729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Rezolvare</a:t>
            </a:r>
            <a:r>
              <a:rPr lang="en-US" dirty="0">
                <a:latin typeface="+mn-lt"/>
              </a:rPr>
              <a:t>: Cod Transact-SQL</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5"/>
            <a:ext cx="10738002" cy="4439668"/>
          </a:xfrm>
        </p:spPr>
        <p:txBody>
          <a:bodyPr>
            <a:normAutofit lnSpcReduction="10000"/>
          </a:bodyPr>
          <a:lstStyle/>
          <a:p>
            <a:r>
              <a:rPr lang="ro-RO" dirty="0"/>
              <a:t>În enunțul problemei se </a:t>
            </a:r>
            <a:r>
              <a:rPr lang="en-US" dirty="0"/>
              <a:t>men</a:t>
            </a:r>
            <a:r>
              <a:rPr lang="ro-RO" dirty="0"/>
              <a:t>ționează faptul că </a:t>
            </a:r>
            <a:r>
              <a:rPr lang="ro-RO" b="1" dirty="0"/>
              <a:t>nota</a:t>
            </a:r>
            <a:r>
              <a:rPr lang="ro-RO" dirty="0"/>
              <a:t> dată de către fiecare utilizator trebuie să aibă o </a:t>
            </a:r>
            <a:r>
              <a:rPr lang="ro-RO" b="1" dirty="0"/>
              <a:t>valoare</a:t>
            </a:r>
            <a:r>
              <a:rPr lang="ro-RO" dirty="0"/>
              <a:t> cuprinsă între </a:t>
            </a:r>
            <a:r>
              <a:rPr lang="ro-RO" b="1" dirty="0"/>
              <a:t>1</a:t>
            </a:r>
            <a:r>
              <a:rPr lang="ro-RO" dirty="0"/>
              <a:t> și </a:t>
            </a:r>
            <a:r>
              <a:rPr lang="ro-RO" b="1" dirty="0"/>
              <a:t>10</a:t>
            </a:r>
            <a:endParaRPr lang="en-US" b="1" dirty="0"/>
          </a:p>
          <a:p>
            <a:r>
              <a:rPr lang="ro-RO" dirty="0"/>
              <a:t>Această restricție se poate asigura cu ajutorul unei constrângeri </a:t>
            </a:r>
            <a:r>
              <a:rPr lang="ro-RO" b="1" dirty="0"/>
              <a:t>CHECK</a:t>
            </a:r>
            <a:r>
              <a:rPr lang="ro-RO" dirty="0"/>
              <a:t>, care poate fi impusă </a:t>
            </a:r>
            <a:r>
              <a:rPr lang="ro-RO" b="1" dirty="0"/>
              <a:t>ulterior</a:t>
            </a:r>
            <a:r>
              <a:rPr lang="ro-RO" dirty="0"/>
              <a:t> creării tabelului cu ajutorul instrucțiunii </a:t>
            </a:r>
            <a:r>
              <a:rPr lang="ro-RO" b="1" i="1" dirty="0"/>
              <a:t>ALTER TABLE</a:t>
            </a:r>
            <a:r>
              <a:rPr lang="ro-RO" dirty="0"/>
              <a:t>:</a:t>
            </a:r>
          </a:p>
          <a:p>
            <a:pPr marL="0" indent="0">
              <a:buNone/>
            </a:pPr>
            <a:r>
              <a:rPr lang="ro-RO" dirty="0"/>
              <a:t>	</a:t>
            </a:r>
            <a:r>
              <a:rPr lang="ro-RO" dirty="0">
                <a:solidFill>
                  <a:schemeClr val="accent1">
                    <a:lumMod val="75000"/>
                    <a:alpha val="60000"/>
                  </a:schemeClr>
                </a:solidFill>
              </a:rPr>
              <a:t>/*</a:t>
            </a:r>
            <a:r>
              <a:rPr lang="en-US" dirty="0" err="1">
                <a:solidFill>
                  <a:schemeClr val="accent1">
                    <a:lumMod val="75000"/>
                    <a:alpha val="60000"/>
                  </a:schemeClr>
                </a:solidFill>
              </a:rPr>
              <a:t>Crearea</a:t>
            </a:r>
            <a:r>
              <a:rPr lang="en-US" dirty="0">
                <a:solidFill>
                  <a:schemeClr val="accent1">
                    <a:lumMod val="75000"/>
                    <a:alpha val="60000"/>
                  </a:schemeClr>
                </a:solidFill>
              </a:rPr>
              <a:t> </a:t>
            </a:r>
            <a:r>
              <a:rPr lang="ro-RO" dirty="0">
                <a:solidFill>
                  <a:schemeClr val="accent1">
                    <a:lumMod val="75000"/>
                    <a:alpha val="60000"/>
                  </a:schemeClr>
                </a:solidFill>
              </a:rPr>
              <a:t>unei constrângeri CHECK pe coloana </a:t>
            </a:r>
            <a:r>
              <a:rPr lang="ro-RO" i="1" dirty="0">
                <a:solidFill>
                  <a:schemeClr val="accent1">
                    <a:lumMod val="75000"/>
                    <a:alpha val="60000"/>
                  </a:schemeClr>
                </a:solidFill>
              </a:rPr>
              <a:t>nota</a:t>
            </a:r>
            <a:r>
              <a:rPr lang="ro-RO" dirty="0">
                <a:solidFill>
                  <a:schemeClr val="accent1">
                    <a:lumMod val="75000"/>
                    <a:alpha val="60000"/>
                  </a:schemeClr>
                </a:solidFill>
              </a:rPr>
              <a:t> </a:t>
            </a:r>
            <a:r>
              <a:rPr lang="en-US" dirty="0">
                <a:solidFill>
                  <a:schemeClr val="accent1">
                    <a:lumMod val="75000"/>
                    <a:alpha val="60000"/>
                  </a:schemeClr>
                </a:solidFill>
              </a:rPr>
              <a:t>din </a:t>
            </a:r>
            <a:r>
              <a:rPr lang="en-US" dirty="0" err="1">
                <a:solidFill>
                  <a:schemeClr val="accent1">
                    <a:lumMod val="75000"/>
                    <a:alpha val="60000"/>
                  </a:schemeClr>
                </a:solidFill>
              </a:rPr>
              <a:t>tabelul</a:t>
            </a:r>
            <a:r>
              <a:rPr lang="en-US" dirty="0">
                <a:solidFill>
                  <a:schemeClr val="accent1">
                    <a:lumMod val="75000"/>
                    <a:alpha val="60000"/>
                  </a:schemeClr>
                </a:solidFill>
              </a:rPr>
              <a:t> </a:t>
            </a:r>
            <a:r>
              <a:rPr lang="ro-RO" i="1" dirty="0">
                <a:solidFill>
                  <a:schemeClr val="accent1">
                    <a:lumMod val="75000"/>
                    <a:alpha val="60000"/>
                  </a:schemeClr>
                </a:solidFill>
              </a:rPr>
              <a:t>Note</a:t>
            </a:r>
            <a:r>
              <a:rPr lang="en-US" dirty="0">
                <a:solidFill>
                  <a:schemeClr val="accent1">
                    <a:lumMod val="75000"/>
                    <a:alpha val="60000"/>
                  </a:schemeClr>
                </a:solidFill>
              </a:rPr>
              <a:t> </a:t>
            </a:r>
            <a:r>
              <a:rPr lang="ro-RO" dirty="0">
                <a:solidFill>
                  <a:schemeClr val="accent1">
                    <a:lumMod val="75000"/>
                    <a:alpha val="60000"/>
                  </a:schemeClr>
                </a:solidFill>
              </a:rPr>
              <a:t>după ce a fost </a:t>
            </a:r>
            <a:r>
              <a:rPr lang="en-US" dirty="0">
                <a:solidFill>
                  <a:schemeClr val="accent1">
                    <a:lumMod val="75000"/>
                    <a:alpha val="60000"/>
                  </a:schemeClr>
                </a:solidFill>
              </a:rPr>
              <a:t>	</a:t>
            </a:r>
            <a:r>
              <a:rPr lang="ro-RO" dirty="0">
                <a:solidFill>
                  <a:schemeClr val="accent1">
                    <a:lumMod val="75000"/>
                    <a:alpha val="60000"/>
                  </a:schemeClr>
                </a:solidFill>
              </a:rPr>
              <a:t>creat tabelul*/</a:t>
            </a: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CONSTRAINT </a:t>
            </a:r>
            <a:r>
              <a:rPr lang="ro-RO" dirty="0">
                <a:latin typeface="Consolas" panose="020B0609020204030204" pitchFamily="49" charset="0"/>
              </a:rPr>
              <a:t>ck_nota </a:t>
            </a:r>
            <a:r>
              <a:rPr lang="ro-RO" dirty="0">
                <a:solidFill>
                  <a:srgbClr val="0000FF">
                    <a:alpha val="60000"/>
                  </a:srgbClr>
                </a:solidFill>
                <a:latin typeface="Consolas" panose="020B0609020204030204" pitchFamily="49" charset="0"/>
              </a:rPr>
              <a:t>CHECK</a:t>
            </a:r>
            <a:r>
              <a:rPr lang="ro-RO" dirty="0">
                <a:latin typeface="Consolas" panose="020B0609020204030204" pitchFamily="49" charset="0"/>
              </a:rPr>
              <a:t> (nota</a:t>
            </a:r>
            <a:r>
              <a:rPr lang="en-US" dirty="0">
                <a:latin typeface="Consolas" panose="020B0609020204030204" pitchFamily="49" charset="0"/>
              </a:rPr>
              <a:t>&gt;=1 AND nota&lt;=10</a:t>
            </a:r>
            <a:r>
              <a:rPr lang="ro-RO" dirty="0">
                <a:latin typeface="Consolas" panose="020B0609020204030204" pitchFamily="49" charset="0"/>
              </a:rPr>
              <a:t>)</a:t>
            </a:r>
            <a:r>
              <a:rPr lang="en-US" dirty="0">
                <a:latin typeface="Consolas" panose="020B0609020204030204" pitchFamily="49" charset="0"/>
              </a:rPr>
              <a:t>;</a:t>
            </a:r>
            <a:endParaRPr lang="ro-RO" dirty="0">
              <a:latin typeface="Consolas" panose="020B0609020204030204" pitchFamily="49" charset="0"/>
            </a:endParaRPr>
          </a:p>
          <a:p>
            <a:pPr marL="0" indent="0">
              <a:buNone/>
            </a:pPr>
            <a:endParaRPr lang="ro-RO" dirty="0">
              <a:latin typeface="Consolas" panose="020B0609020204030204" pitchFamily="49" charset="0"/>
            </a:endParaRPr>
          </a:p>
          <a:p>
            <a:pPr marL="0" indent="0">
              <a:buNone/>
            </a:pPr>
            <a:r>
              <a:rPr lang="ro-RO" dirty="0">
                <a:solidFill>
                  <a:srgbClr val="FF0000">
                    <a:alpha val="60000"/>
                  </a:srgbClr>
                </a:solidFill>
              </a:rPr>
              <a:t>!!! Dacă există în tabel valori care nu se află în intervalul specificat de condiția din constrângerea CHECK de mai sus, instrucțiunea de creare a constrângerii va eșua</a:t>
            </a:r>
          </a:p>
        </p:txBody>
      </p:sp>
    </p:spTree>
    <p:extLst>
      <p:ext uri="{BB962C8B-B14F-4D97-AF65-F5344CB8AC3E}">
        <p14:creationId xmlns:p14="http://schemas.microsoft.com/office/powerpoint/2010/main" val="2774967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FE435-7010-A20E-2E48-DA317BAA3134}"/>
              </a:ext>
            </a:extLst>
          </p:cNvPr>
          <p:cNvSpPr>
            <a:spLocks noGrp="1"/>
          </p:cNvSpPr>
          <p:nvPr>
            <p:ph type="title"/>
          </p:nvPr>
        </p:nvSpPr>
        <p:spPr/>
        <p:txBody>
          <a:bodyPr/>
          <a:lstStyle/>
          <a:p>
            <a:r>
              <a:rPr lang="ro-RO" dirty="0">
                <a:latin typeface="+mn-lt"/>
              </a:rPr>
              <a:t>Observații</a:t>
            </a:r>
          </a:p>
        </p:txBody>
      </p:sp>
      <p:sp>
        <p:nvSpPr>
          <p:cNvPr id="3" name="Content Placeholder 2">
            <a:extLst>
              <a:ext uri="{FF2B5EF4-FFF2-40B4-BE49-F238E27FC236}">
                <a16:creationId xmlns:a16="http://schemas.microsoft.com/office/drawing/2014/main" id="{8F1F657C-CB22-43FF-0DA7-64D8A421140E}"/>
              </a:ext>
            </a:extLst>
          </p:cNvPr>
          <p:cNvSpPr>
            <a:spLocks noGrp="1"/>
          </p:cNvSpPr>
          <p:nvPr>
            <p:ph idx="1"/>
          </p:nvPr>
        </p:nvSpPr>
        <p:spPr>
          <a:xfrm>
            <a:off x="989400" y="1685925"/>
            <a:ext cx="10738002" cy="4439667"/>
          </a:xfrm>
        </p:spPr>
        <p:txBody>
          <a:bodyPr/>
          <a:lstStyle/>
          <a:p>
            <a:r>
              <a:rPr lang="ro-RO" b="1" dirty="0"/>
              <a:t>Constrângerea CHECK </a:t>
            </a:r>
            <a:r>
              <a:rPr lang="ro-RO" dirty="0"/>
              <a:t>se folosește pentru a limita intervalul de valori ce se pot introduce pentru o anumită coloană</a:t>
            </a:r>
          </a:p>
          <a:p>
            <a:r>
              <a:rPr lang="ro-RO" dirty="0"/>
              <a:t>Se poate defini pe o coloană, iar în acest caz limitează valorile ce pot fi introduse pentru coloana respectivă</a:t>
            </a:r>
          </a:p>
          <a:p>
            <a:r>
              <a:rPr lang="ro-RO" dirty="0"/>
              <a:t>Se pot crea și </a:t>
            </a:r>
            <a:r>
              <a:rPr lang="ro-RO" b="1" dirty="0"/>
              <a:t>constrângeri CHECK </a:t>
            </a:r>
            <a:r>
              <a:rPr lang="ro-RO" dirty="0"/>
              <a:t>care conțin restricții pentru mai multe coloane</a:t>
            </a:r>
          </a:p>
        </p:txBody>
      </p:sp>
    </p:spTree>
    <p:extLst>
      <p:ext uri="{BB962C8B-B14F-4D97-AF65-F5344CB8AC3E}">
        <p14:creationId xmlns:p14="http://schemas.microsoft.com/office/powerpoint/2010/main" val="94723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F9648-0232-B96D-ECDF-6885EA4FE1AD}"/>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663D299F-2910-C2F8-523A-8F5455889D81}"/>
              </a:ext>
            </a:extLst>
          </p:cNvPr>
          <p:cNvSpPr>
            <a:spLocks noGrp="1"/>
          </p:cNvSpPr>
          <p:nvPr>
            <p:ph idx="1"/>
          </p:nvPr>
        </p:nvSpPr>
        <p:spPr>
          <a:xfrm>
            <a:off x="989400" y="1685924"/>
            <a:ext cx="10738002" cy="5172075"/>
          </a:xfrm>
        </p:spPr>
        <p:txBody>
          <a:bodyPr>
            <a:normAutofit/>
          </a:bodyPr>
          <a:lstStyle/>
          <a:p>
            <a:r>
              <a:rPr lang="ro-RO" dirty="0"/>
              <a:t>În anumite cazuri, vor fi necesare </a:t>
            </a:r>
            <a:r>
              <a:rPr lang="ro-RO" b="1" dirty="0"/>
              <a:t>modificări</a:t>
            </a:r>
            <a:r>
              <a:rPr lang="ro-RO" dirty="0"/>
              <a:t> la nivelul structurii bazei de date</a:t>
            </a:r>
            <a:endParaRPr lang="ro-RO" b="1" dirty="0"/>
          </a:p>
          <a:p>
            <a:r>
              <a:rPr lang="ro-RO" dirty="0"/>
              <a:t>Dacă dorim să </a:t>
            </a:r>
            <a:r>
              <a:rPr lang="ro-RO" b="1" dirty="0"/>
              <a:t>adăugăm</a:t>
            </a:r>
            <a:r>
              <a:rPr lang="ro-RO" dirty="0"/>
              <a:t> o </a:t>
            </a:r>
            <a:r>
              <a:rPr lang="ro-RO" b="1" dirty="0"/>
              <a:t>coloană nouă </a:t>
            </a:r>
            <a:r>
              <a:rPr lang="ro-RO" dirty="0"/>
              <a:t>în tabelul </a:t>
            </a:r>
            <a:r>
              <a:rPr lang="ro-RO" i="1" dirty="0"/>
              <a:t>Note </a:t>
            </a:r>
            <a:r>
              <a:rPr lang="ro-RO" dirty="0"/>
              <a:t>în care vom stoca data și ora la care a fost adăugată nota, vom folosi din nou instrucțiunea </a:t>
            </a:r>
            <a:r>
              <a:rPr lang="ro-RO" b="1" i="1" dirty="0"/>
              <a:t>ALTER TABLE</a:t>
            </a:r>
            <a:r>
              <a:rPr lang="ro-RO" dirty="0"/>
              <a:t>:</a:t>
            </a:r>
          </a:p>
          <a:p>
            <a:pPr marL="0" indent="0">
              <a:buNone/>
            </a:pPr>
            <a:r>
              <a:rPr lang="ro-RO" dirty="0"/>
              <a:t>	</a:t>
            </a:r>
            <a:r>
              <a:rPr lang="ro-RO" dirty="0">
                <a:solidFill>
                  <a:schemeClr val="accent1">
                    <a:lumMod val="75000"/>
                    <a:alpha val="60000"/>
                  </a:schemeClr>
                </a:solidFill>
              </a:rPr>
              <a:t>--</a:t>
            </a:r>
            <a:r>
              <a:rPr lang="en-US" dirty="0">
                <a:solidFill>
                  <a:schemeClr val="accent1">
                    <a:lumMod val="75000"/>
                    <a:alpha val="60000"/>
                  </a:schemeClr>
                </a:solidFill>
              </a:rPr>
              <a:t>Ad</a:t>
            </a:r>
            <a:r>
              <a:rPr lang="ro-RO" dirty="0">
                <a:solidFill>
                  <a:schemeClr val="accent1">
                    <a:lumMod val="75000"/>
                    <a:alpha val="60000"/>
                  </a:schemeClr>
                </a:solidFill>
              </a:rPr>
              <a:t>ăugarea</a:t>
            </a:r>
            <a:r>
              <a:rPr lang="en-US" dirty="0">
                <a:solidFill>
                  <a:schemeClr val="accent1">
                    <a:lumMod val="75000"/>
                    <a:alpha val="60000"/>
                  </a:schemeClr>
                </a:solidFill>
              </a:rPr>
              <a:t> </a:t>
            </a:r>
            <a:r>
              <a:rPr lang="ro-RO" dirty="0">
                <a:solidFill>
                  <a:schemeClr val="accent1">
                    <a:lumMod val="75000"/>
                    <a:alpha val="60000"/>
                  </a:schemeClr>
                </a:solidFill>
              </a:rPr>
              <a:t>unei coloane noi în tabelul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a:t>
            </a:r>
            <a:r>
              <a:rPr lang="ro-RO" dirty="0">
                <a:latin typeface="Consolas" panose="020B0609020204030204" pitchFamily="49" charset="0"/>
              </a:rPr>
              <a:t>data</a:t>
            </a:r>
            <a:r>
              <a:rPr lang="en-US" dirty="0">
                <a:latin typeface="Consolas" panose="020B0609020204030204" pitchFamily="49" charset="0"/>
              </a:rPr>
              <a:t>_</a:t>
            </a:r>
            <a:r>
              <a:rPr lang="en-US" dirty="0" err="1">
                <a:latin typeface="Consolas" panose="020B0609020204030204" pitchFamily="49" charset="0"/>
              </a:rPr>
              <a:t>si_ora</a:t>
            </a:r>
            <a:r>
              <a:rPr lang="ro-RO" dirty="0">
                <a:latin typeface="Consolas" panose="020B0609020204030204" pitchFamily="49" charset="0"/>
              </a:rPr>
              <a:t>_adaugarii </a:t>
            </a:r>
            <a:r>
              <a:rPr lang="ro-RO" dirty="0">
                <a:solidFill>
                  <a:srgbClr val="0000FF">
                    <a:alpha val="60000"/>
                  </a:srgbClr>
                </a:solidFill>
                <a:latin typeface="Consolas" panose="020B0609020204030204" pitchFamily="49" charset="0"/>
              </a:rPr>
              <a:t>DATETIME</a:t>
            </a:r>
            <a:r>
              <a:rPr lang="en-US" dirty="0">
                <a:latin typeface="Consolas" panose="020B0609020204030204" pitchFamily="49" charset="0"/>
              </a:rPr>
              <a:t>;</a:t>
            </a:r>
            <a:endParaRPr lang="ro-RO" dirty="0">
              <a:latin typeface="Consolas" panose="020B0609020204030204" pitchFamily="49" charset="0"/>
            </a:endParaRPr>
          </a:p>
          <a:p>
            <a:endParaRPr lang="ro-RO" dirty="0">
              <a:latin typeface="Consolas" panose="020B0609020204030204" pitchFamily="49" charset="0"/>
            </a:endParaRPr>
          </a:p>
        </p:txBody>
      </p:sp>
    </p:spTree>
    <p:extLst>
      <p:ext uri="{BB962C8B-B14F-4D97-AF65-F5344CB8AC3E}">
        <p14:creationId xmlns:p14="http://schemas.microsoft.com/office/powerpoint/2010/main" val="14013138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1066476" cy="4972327"/>
          </a:xfrm>
        </p:spPr>
        <p:txBody>
          <a:bodyPr>
            <a:normAutofit/>
          </a:bodyPr>
          <a:lstStyle/>
          <a:p>
            <a:r>
              <a:rPr lang="en-US" dirty="0" err="1"/>
              <a:t>Dac</a:t>
            </a:r>
            <a:r>
              <a:rPr lang="ro-RO" dirty="0"/>
              <a:t>ă dorim să setăm o </a:t>
            </a:r>
            <a:r>
              <a:rPr lang="ro-RO" b="1" dirty="0"/>
              <a:t>valoare implicită </a:t>
            </a:r>
            <a:r>
              <a:rPr lang="ro-RO" dirty="0"/>
              <a:t>pentru o </a:t>
            </a:r>
            <a:r>
              <a:rPr lang="ro-RO" b="1" dirty="0"/>
              <a:t>coloană </a:t>
            </a:r>
            <a:r>
              <a:rPr lang="ro-RO" dirty="0"/>
              <a:t>(care să fie introdusă în mod automat atunci când nu se specifică o valoare pentru coloana respectivă la adăugarea unei înregistrări), vom folosi o constrângere </a:t>
            </a:r>
            <a:r>
              <a:rPr lang="ro-RO" b="1" dirty="0"/>
              <a:t>DEFAULT</a:t>
            </a:r>
            <a:r>
              <a:rPr lang="ro-RO" dirty="0"/>
              <a:t>:</a:t>
            </a:r>
          </a:p>
          <a:p>
            <a:pPr marL="0" indent="0">
              <a:buNone/>
            </a:pPr>
            <a:r>
              <a:rPr lang="ro-RO" dirty="0">
                <a:solidFill>
                  <a:schemeClr val="accent1">
                    <a:lumMod val="75000"/>
                    <a:alpha val="60000"/>
                  </a:schemeClr>
                </a:solidFill>
              </a:rPr>
              <a:t>	--</a:t>
            </a:r>
            <a:r>
              <a:rPr lang="en-US" dirty="0">
                <a:solidFill>
                  <a:schemeClr val="accent1">
                    <a:lumMod val="75000"/>
                    <a:alpha val="60000"/>
                  </a:schemeClr>
                </a:solidFill>
              </a:rPr>
              <a:t>Ad</a:t>
            </a:r>
            <a:r>
              <a:rPr lang="ro-RO" dirty="0">
                <a:solidFill>
                  <a:schemeClr val="accent1">
                    <a:lumMod val="75000"/>
                    <a:alpha val="60000"/>
                  </a:schemeClr>
                </a:solidFill>
              </a:rPr>
              <a:t>ăugarea</a:t>
            </a:r>
            <a:r>
              <a:rPr lang="en-US" dirty="0">
                <a:solidFill>
                  <a:schemeClr val="accent1">
                    <a:lumMod val="75000"/>
                    <a:alpha val="60000"/>
                  </a:schemeClr>
                </a:solidFill>
              </a:rPr>
              <a:t> </a:t>
            </a:r>
            <a:r>
              <a:rPr lang="ro-RO" dirty="0">
                <a:solidFill>
                  <a:schemeClr val="accent1">
                    <a:lumMod val="75000"/>
                    <a:alpha val="60000"/>
                  </a:schemeClr>
                </a:solidFill>
              </a:rPr>
              <a:t>unei constrângeri DEFAULT pe coloana data_si_ora_adaugarii</a:t>
            </a: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ADD CONSTRAINT </a:t>
            </a:r>
            <a:r>
              <a:rPr lang="ro-RO" dirty="0">
                <a:latin typeface="Consolas" panose="020B0609020204030204" pitchFamily="49" charset="0"/>
              </a:rPr>
              <a:t>df_data_si_ora_adaugarii </a:t>
            </a:r>
            <a:r>
              <a:rPr lang="ro-RO" dirty="0">
                <a:solidFill>
                  <a:srgbClr val="0000FF">
                    <a:alpha val="60000"/>
                  </a:srgbClr>
                </a:solidFill>
                <a:latin typeface="Consolas" panose="020B0609020204030204" pitchFamily="49" charset="0"/>
              </a:rPr>
              <a:t>DEFAULT</a:t>
            </a:r>
            <a:r>
              <a:rPr lang="ro-RO" dirty="0">
                <a:latin typeface="Consolas" panose="020B0609020204030204" pitchFamily="49" charset="0"/>
              </a:rPr>
              <a:t> </a:t>
            </a:r>
            <a:r>
              <a:rPr lang="ro-RO" dirty="0">
                <a:solidFill>
                  <a:srgbClr val="FF00FF"/>
                </a:solidFill>
                <a:latin typeface="Consolas" panose="020B0609020204030204" pitchFamily="49" charset="0"/>
              </a:rPr>
              <a:t>GETDATE</a:t>
            </a: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FOR</a:t>
            </a:r>
            <a:r>
              <a:rPr lang="ro-RO" dirty="0">
                <a:latin typeface="Consolas" panose="020B0609020204030204" pitchFamily="49" charset="0"/>
              </a:rPr>
              <a:t> 	data_si_ora_adaugarii</a:t>
            </a:r>
            <a:r>
              <a:rPr lang="en-US" dirty="0">
                <a:latin typeface="Consolas" panose="020B0609020204030204" pitchFamily="49" charset="0"/>
              </a:rPr>
              <a:t>;</a:t>
            </a:r>
            <a:endParaRPr lang="ro-RO" dirty="0">
              <a:latin typeface="Consolas" panose="020B0609020204030204" pitchFamily="49" charset="0"/>
            </a:endParaRPr>
          </a:p>
          <a:p>
            <a:r>
              <a:rPr lang="ro-RO" dirty="0">
                <a:solidFill>
                  <a:srgbClr val="FF0000">
                    <a:alpha val="60000"/>
                  </a:srgbClr>
                </a:solidFill>
              </a:rPr>
              <a:t>!!!În exemplul de mai sus, este folosită funcția sistem </a:t>
            </a:r>
            <a:r>
              <a:rPr lang="ro-RO" b="1" dirty="0">
                <a:solidFill>
                  <a:srgbClr val="FF0000">
                    <a:alpha val="60000"/>
                  </a:srgbClr>
                </a:solidFill>
              </a:rPr>
              <a:t>GETDATE() </a:t>
            </a:r>
            <a:r>
              <a:rPr lang="ro-RO" dirty="0">
                <a:solidFill>
                  <a:srgbClr val="FF0000">
                    <a:alpha val="60000"/>
                  </a:srgbClr>
                </a:solidFill>
              </a:rPr>
              <a:t>pentru generarea valorii implicite, deoarece se dorește folosirea datei și orei curente la momentul adăugării înregistrării în tabel</a:t>
            </a:r>
          </a:p>
        </p:txBody>
      </p:sp>
    </p:spTree>
    <p:extLst>
      <p:ext uri="{BB962C8B-B14F-4D97-AF65-F5344CB8AC3E}">
        <p14:creationId xmlns:p14="http://schemas.microsoft.com/office/powerpoint/2010/main" val="795831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888922" cy="5034471"/>
          </a:xfrm>
        </p:spPr>
        <p:txBody>
          <a:bodyPr/>
          <a:lstStyle/>
          <a:p>
            <a:r>
              <a:rPr lang="ro-RO" dirty="0"/>
              <a:t>Dacă dorim să modificăm tipul de date al unei coloane, vom folosi din nou instrucțiunea </a:t>
            </a:r>
            <a:r>
              <a:rPr lang="ro-RO" b="1" i="1" dirty="0"/>
              <a:t>ALTER TABLE</a:t>
            </a:r>
            <a:r>
              <a:rPr lang="ro-RO" dirty="0"/>
              <a:t>:</a:t>
            </a:r>
          </a:p>
          <a:p>
            <a:pPr marL="0" indent="0">
              <a:buNone/>
            </a:pPr>
            <a:r>
              <a:rPr lang="ro-RO" dirty="0">
                <a:solidFill>
                  <a:schemeClr val="accent1">
                    <a:lumMod val="75000"/>
                    <a:alpha val="60000"/>
                  </a:schemeClr>
                </a:solidFill>
              </a:rPr>
              <a:t>	--Modificarea tipului de date</a:t>
            </a:r>
            <a:r>
              <a:rPr lang="en-US" dirty="0">
                <a:solidFill>
                  <a:schemeClr val="accent1">
                    <a:lumMod val="75000"/>
                    <a:alpha val="60000"/>
                  </a:schemeClr>
                </a:solidFill>
              </a:rPr>
              <a:t> </a:t>
            </a:r>
            <a:r>
              <a:rPr lang="ro-RO" dirty="0">
                <a:solidFill>
                  <a:schemeClr val="accent1">
                    <a:lumMod val="75000"/>
                    <a:alpha val="60000"/>
                  </a:schemeClr>
                </a:solidFill>
              </a:rPr>
              <a:t>al coloanei </a:t>
            </a:r>
            <a:r>
              <a:rPr lang="ro-RO" i="1" dirty="0">
                <a:solidFill>
                  <a:schemeClr val="accent1">
                    <a:lumMod val="75000"/>
                    <a:alpha val="60000"/>
                  </a:schemeClr>
                </a:solidFill>
              </a:rPr>
              <a:t>titlu</a:t>
            </a:r>
            <a:r>
              <a:rPr lang="ro-RO" dirty="0">
                <a:solidFill>
                  <a:schemeClr val="accent1">
                    <a:lumMod val="75000"/>
                    <a:alpha val="60000"/>
                  </a:schemeClr>
                </a:solidFill>
              </a:rPr>
              <a:t> din tabelul </a:t>
            </a:r>
            <a:r>
              <a:rPr lang="ro-RO" i="1" dirty="0">
                <a:solidFill>
                  <a:schemeClr val="accent1">
                    <a:lumMod val="75000"/>
                    <a:alpha val="60000"/>
                  </a:schemeClr>
                </a:solidFill>
              </a:rPr>
              <a:t>Filme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Filme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ALTER COLUMN </a:t>
            </a:r>
            <a:r>
              <a:rPr lang="ro-RO" dirty="0">
                <a:latin typeface="Consolas" panose="020B0609020204030204" pitchFamily="49" charset="0"/>
              </a:rPr>
              <a:t>titlu </a:t>
            </a:r>
            <a:r>
              <a:rPr lang="ro-RO" dirty="0">
                <a:solidFill>
                  <a:srgbClr val="0000FF">
                    <a:alpha val="60000"/>
                  </a:srgbClr>
                </a:solidFill>
                <a:latin typeface="Consolas" panose="020B0609020204030204" pitchFamily="49" charset="0"/>
              </a:rPr>
              <a:t>NVARCHAR(220)</a:t>
            </a:r>
            <a:r>
              <a:rPr lang="en-US" dirty="0">
                <a:latin typeface="Consolas" panose="020B0609020204030204" pitchFamily="49" charset="0"/>
              </a:rPr>
              <a:t>;</a:t>
            </a:r>
            <a:endParaRPr lang="ro-RO" dirty="0">
              <a:latin typeface="Consolas" panose="020B0609020204030204" pitchFamily="49" charset="0"/>
            </a:endParaRPr>
          </a:p>
          <a:p>
            <a:endParaRPr lang="ro-RO" dirty="0"/>
          </a:p>
          <a:p>
            <a:endParaRPr lang="ro-RO" dirty="0"/>
          </a:p>
        </p:txBody>
      </p:sp>
    </p:spTree>
    <p:extLst>
      <p:ext uri="{BB962C8B-B14F-4D97-AF65-F5344CB8AC3E}">
        <p14:creationId xmlns:p14="http://schemas.microsoft.com/office/powerpoint/2010/main" val="3487338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888922" cy="5034471"/>
          </a:xfrm>
        </p:spPr>
        <p:txBody>
          <a:bodyPr/>
          <a:lstStyle/>
          <a:p>
            <a:r>
              <a:rPr lang="ro-RO" dirty="0"/>
              <a:t>Dacă dorim să eliminăm</a:t>
            </a:r>
            <a:r>
              <a:rPr lang="en-US" dirty="0"/>
              <a:t> </a:t>
            </a:r>
            <a:r>
              <a:rPr lang="ro-RO" dirty="0"/>
              <a:t>o constrângere dintr-un tabel, vom folosi instrucțiunea  </a:t>
            </a:r>
            <a:r>
              <a:rPr lang="ro-RO" b="1" i="1" dirty="0"/>
              <a:t>ALTER TABLE</a:t>
            </a:r>
            <a:r>
              <a:rPr lang="ro-RO" dirty="0"/>
              <a:t>: </a:t>
            </a:r>
          </a:p>
          <a:p>
            <a:pPr marL="0" indent="0">
              <a:buNone/>
            </a:pPr>
            <a:r>
              <a:rPr lang="ro-RO" dirty="0">
                <a:solidFill>
                  <a:schemeClr val="accent1">
                    <a:lumMod val="75000"/>
                    <a:alpha val="60000"/>
                  </a:schemeClr>
                </a:solidFill>
              </a:rPr>
              <a:t>	/*Eliminarea constrângerii DEFAULT</a:t>
            </a:r>
            <a:r>
              <a:rPr lang="en-US" dirty="0">
                <a:solidFill>
                  <a:schemeClr val="accent1">
                    <a:lumMod val="75000"/>
                    <a:alpha val="60000"/>
                  </a:schemeClr>
                </a:solidFill>
              </a:rPr>
              <a:t> </a:t>
            </a:r>
            <a:r>
              <a:rPr lang="ro-RO" dirty="0">
                <a:solidFill>
                  <a:schemeClr val="accent1">
                    <a:lumMod val="75000"/>
                    <a:alpha val="60000"/>
                  </a:schemeClr>
                </a:solidFill>
              </a:rPr>
              <a:t>definită pe coloana data_si_ora_adaugarii 	din tabelul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DROP CONSTRAINT </a:t>
            </a:r>
            <a:r>
              <a:rPr lang="ro-RO" dirty="0">
                <a:latin typeface="Consolas" panose="020B0609020204030204" pitchFamily="49" charset="0"/>
              </a:rPr>
              <a:t>df_data</a:t>
            </a:r>
            <a:r>
              <a:rPr lang="en-US" dirty="0">
                <a:latin typeface="Consolas" panose="020B0609020204030204" pitchFamily="49" charset="0"/>
              </a:rPr>
              <a:t>_</a:t>
            </a:r>
            <a:r>
              <a:rPr lang="en-US" dirty="0" err="1">
                <a:latin typeface="Consolas" panose="020B0609020204030204" pitchFamily="49" charset="0"/>
              </a:rPr>
              <a:t>si_ora</a:t>
            </a:r>
            <a:r>
              <a:rPr lang="ro-RO" dirty="0">
                <a:latin typeface="Consolas" panose="020B0609020204030204" pitchFamily="49" charset="0"/>
              </a:rPr>
              <a:t>_adaugarii</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1872627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116565" cy="5034471"/>
          </a:xfrm>
        </p:spPr>
        <p:txBody>
          <a:bodyPr/>
          <a:lstStyle/>
          <a:p>
            <a:r>
              <a:rPr lang="ro-RO" dirty="0"/>
              <a:t>Dacă dorim să ștergem o coloană dintr-un tabel, vom folosi instrucțiunea  </a:t>
            </a:r>
            <a:r>
              <a:rPr lang="ro-RO" b="1" i="1" dirty="0"/>
              <a:t>ALTER TABLE</a:t>
            </a:r>
            <a:r>
              <a:rPr lang="ro-RO" dirty="0"/>
              <a:t>: </a:t>
            </a:r>
          </a:p>
          <a:p>
            <a:pPr marL="0" indent="0">
              <a:buNone/>
            </a:pPr>
            <a:r>
              <a:rPr lang="ro-RO" dirty="0">
                <a:solidFill>
                  <a:schemeClr val="accent1">
                    <a:lumMod val="75000"/>
                    <a:alpha val="60000"/>
                  </a:schemeClr>
                </a:solidFill>
              </a:rPr>
              <a:t>	--Ștergerea</a:t>
            </a:r>
            <a:r>
              <a:rPr lang="en-US" dirty="0">
                <a:solidFill>
                  <a:schemeClr val="accent1">
                    <a:lumMod val="75000"/>
                    <a:alpha val="60000"/>
                  </a:schemeClr>
                </a:solidFill>
              </a:rPr>
              <a:t> </a:t>
            </a:r>
            <a:r>
              <a:rPr lang="ro-RO" dirty="0">
                <a:solidFill>
                  <a:schemeClr val="accent1">
                    <a:lumMod val="75000"/>
                    <a:alpha val="60000"/>
                  </a:schemeClr>
                </a:solidFill>
              </a:rPr>
              <a:t>coloanei data_si_ora_adaugarii din tabelul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TABLE </a:t>
            </a:r>
            <a:r>
              <a:rPr lang="ro-RO" dirty="0">
                <a:latin typeface="Consolas" panose="020B0609020204030204" pitchFamily="49" charset="0"/>
              </a:rPr>
              <a:t>Note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DROP COLUMN </a:t>
            </a:r>
            <a:r>
              <a:rPr lang="ro-RO" dirty="0">
                <a:latin typeface="Consolas" panose="020B0609020204030204" pitchFamily="49" charset="0"/>
              </a:rPr>
              <a:t>data</a:t>
            </a:r>
            <a:r>
              <a:rPr lang="en-US" dirty="0">
                <a:latin typeface="Consolas" panose="020B0609020204030204" pitchFamily="49" charset="0"/>
              </a:rPr>
              <a:t>_</a:t>
            </a:r>
            <a:r>
              <a:rPr lang="en-US" dirty="0" err="1">
                <a:latin typeface="Consolas" panose="020B0609020204030204" pitchFamily="49" charset="0"/>
              </a:rPr>
              <a:t>si_ora</a:t>
            </a:r>
            <a:r>
              <a:rPr lang="ro-RO" dirty="0">
                <a:latin typeface="Consolas" panose="020B0609020204030204" pitchFamily="49" charset="0"/>
              </a:rPr>
              <a:t>_adaugarii</a:t>
            </a:r>
            <a:r>
              <a:rPr lang="en-US" dirty="0">
                <a:latin typeface="Consolas" panose="020B0609020204030204" pitchFamily="49" charset="0"/>
              </a:rPr>
              <a:t>;</a:t>
            </a:r>
            <a:endParaRPr lang="ro-RO" dirty="0">
              <a:latin typeface="Consolas" panose="020B0609020204030204" pitchFamily="49" charset="0"/>
            </a:endParaRPr>
          </a:p>
          <a:p>
            <a:endParaRPr lang="ro-RO" dirty="0"/>
          </a:p>
        </p:txBody>
      </p:sp>
    </p:spTree>
    <p:extLst>
      <p:ext uri="{BB962C8B-B14F-4D97-AF65-F5344CB8AC3E}">
        <p14:creationId xmlns:p14="http://schemas.microsoft.com/office/powerpoint/2010/main" val="3534748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en-US" dirty="0" err="1">
                <a:latin typeface="+mn-lt"/>
              </a:rPr>
              <a:t>Modific</a:t>
            </a:r>
            <a:r>
              <a:rPr lang="ro-RO" dirty="0">
                <a:latin typeface="+mn-lt"/>
              </a:rPr>
              <a:t>ări la nivelul structurii bazei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213200" cy="5034471"/>
          </a:xfrm>
        </p:spPr>
        <p:txBody>
          <a:bodyPr/>
          <a:lstStyle/>
          <a:p>
            <a:r>
              <a:rPr lang="ro-RO" dirty="0"/>
              <a:t>Dacă dorim să </a:t>
            </a:r>
            <a:r>
              <a:rPr lang="en-US" dirty="0" err="1"/>
              <a:t>modific</a:t>
            </a:r>
            <a:r>
              <a:rPr lang="ro-RO" dirty="0"/>
              <a:t>ăm numele bazei de date, vom folosi instrucțiunea </a:t>
            </a:r>
            <a:r>
              <a:rPr lang="ro-RO" b="1" i="1" dirty="0"/>
              <a:t>ALTER DATABASE</a:t>
            </a:r>
            <a:r>
              <a:rPr lang="ro-RO" dirty="0"/>
              <a:t>:</a:t>
            </a:r>
          </a:p>
          <a:p>
            <a:pPr marL="0" indent="0">
              <a:buNone/>
            </a:pPr>
            <a:r>
              <a:rPr lang="ro-RO" dirty="0">
                <a:solidFill>
                  <a:schemeClr val="accent1">
                    <a:lumMod val="75000"/>
                    <a:alpha val="60000"/>
                  </a:schemeClr>
                </a:solidFill>
              </a:rPr>
              <a:t>	--Modificarea numelui bazei de date</a:t>
            </a:r>
            <a:r>
              <a:rPr lang="en-US" dirty="0">
                <a:solidFill>
                  <a:schemeClr val="accent1">
                    <a:lumMod val="75000"/>
                    <a:alpha val="60000"/>
                  </a:schemeClr>
                </a:solidFill>
              </a:rPr>
              <a:t> </a:t>
            </a:r>
            <a:r>
              <a:rPr lang="ro-RO" dirty="0">
                <a:solidFill>
                  <a:schemeClr val="accent1">
                    <a:lumMod val="75000"/>
                    <a:alpha val="60000"/>
                  </a:schemeClr>
                </a:solidFill>
              </a:rPr>
              <a:t> </a:t>
            </a:r>
            <a:r>
              <a:rPr lang="ro-RO" i="1" dirty="0">
                <a:solidFill>
                  <a:schemeClr val="accent1">
                    <a:lumMod val="75000"/>
                    <a:alpha val="60000"/>
                  </a:schemeClr>
                </a:solidFill>
              </a:rPr>
              <a:t>ProblemaFilme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ALTER DATABASE </a:t>
            </a:r>
            <a:r>
              <a:rPr lang="ro-RO" dirty="0">
                <a:latin typeface="Consolas" panose="020B0609020204030204" pitchFamily="49" charset="0"/>
              </a:rPr>
              <a:t>ProblemaFilme</a:t>
            </a:r>
          </a:p>
          <a:p>
            <a:pPr marL="0" indent="0">
              <a:buNone/>
            </a:pPr>
            <a:r>
              <a:rPr lang="ro-RO" dirty="0">
                <a:latin typeface="Consolas" panose="020B0609020204030204" pitchFamily="49" charset="0"/>
              </a:rPr>
              <a:t>	</a:t>
            </a:r>
            <a:r>
              <a:rPr lang="ro-RO" dirty="0">
                <a:solidFill>
                  <a:srgbClr val="0000FF">
                    <a:alpha val="60000"/>
                  </a:srgbClr>
                </a:solidFill>
                <a:latin typeface="Consolas" panose="020B0609020204030204" pitchFamily="49" charset="0"/>
              </a:rPr>
              <a:t>MODIFY</a:t>
            </a:r>
            <a:r>
              <a:rPr lang="ro-RO" dirty="0">
                <a:latin typeface="Consolas" panose="020B0609020204030204" pitchFamily="49" charset="0"/>
              </a:rPr>
              <a:t> Name=NoteFilme</a:t>
            </a:r>
            <a:r>
              <a:rPr lang="en-US" dirty="0">
                <a:latin typeface="Consolas" panose="020B0609020204030204" pitchFamily="49" charset="0"/>
              </a:rPr>
              <a:t>;</a:t>
            </a:r>
            <a:endParaRPr lang="ro-RO" dirty="0">
              <a:latin typeface="Consolas" panose="020B0609020204030204" pitchFamily="49" charset="0"/>
            </a:endParaRPr>
          </a:p>
          <a:p>
            <a:pPr marL="0" indent="0">
              <a:buNone/>
            </a:pPr>
            <a:r>
              <a:rPr lang="ro-RO" dirty="0">
                <a:latin typeface="Consolas" panose="020B0609020204030204" pitchFamily="49" charset="0"/>
              </a:rPr>
              <a:t>	</a:t>
            </a:r>
          </a:p>
          <a:p>
            <a:endParaRPr lang="ro-RO" dirty="0"/>
          </a:p>
        </p:txBody>
      </p:sp>
    </p:spTree>
    <p:extLst>
      <p:ext uri="{BB962C8B-B14F-4D97-AF65-F5344CB8AC3E}">
        <p14:creationId xmlns:p14="http://schemas.microsoft.com/office/powerpoint/2010/main" val="227736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59A21-BEF1-5FDD-667F-BA78CF9A91B9}"/>
              </a:ext>
            </a:extLst>
          </p:cNvPr>
          <p:cNvSpPr>
            <a:spLocks noGrp="1"/>
          </p:cNvSpPr>
          <p:nvPr>
            <p:ph type="title"/>
          </p:nvPr>
        </p:nvSpPr>
        <p:spPr/>
        <p:txBody>
          <a:bodyPr/>
          <a:lstStyle/>
          <a:p>
            <a:r>
              <a:rPr lang="ro-RO" dirty="0">
                <a:latin typeface="+mn-lt"/>
              </a:rPr>
              <a:t>Ștergerea unui tabel din baza de date</a:t>
            </a:r>
            <a:endParaRPr lang="ro-RO" dirty="0"/>
          </a:p>
        </p:txBody>
      </p:sp>
      <p:sp>
        <p:nvSpPr>
          <p:cNvPr id="3" name="Content Placeholder 2">
            <a:extLst>
              <a:ext uri="{FF2B5EF4-FFF2-40B4-BE49-F238E27FC236}">
                <a16:creationId xmlns:a16="http://schemas.microsoft.com/office/drawing/2014/main" id="{CB31C6C1-75DD-889D-034E-21C8E651E6E5}"/>
              </a:ext>
            </a:extLst>
          </p:cNvPr>
          <p:cNvSpPr>
            <a:spLocks noGrp="1"/>
          </p:cNvSpPr>
          <p:nvPr>
            <p:ph idx="1"/>
          </p:nvPr>
        </p:nvSpPr>
        <p:spPr>
          <a:xfrm>
            <a:off x="989400" y="1685925"/>
            <a:ext cx="10338507" cy="5034471"/>
          </a:xfrm>
        </p:spPr>
        <p:txBody>
          <a:bodyPr/>
          <a:lstStyle/>
          <a:p>
            <a:r>
              <a:rPr lang="ro-RO" dirty="0"/>
              <a:t>Dacă dorim să ștergem un tabel din baza de date, vom folosi instrucțiunea </a:t>
            </a:r>
            <a:r>
              <a:rPr lang="ro-RO" b="1" i="1" dirty="0"/>
              <a:t>DROP TABLE</a:t>
            </a:r>
            <a:r>
              <a:rPr lang="ro-RO" dirty="0"/>
              <a:t>:</a:t>
            </a:r>
          </a:p>
          <a:p>
            <a:pPr marL="0" indent="0">
              <a:buNone/>
            </a:pPr>
            <a:r>
              <a:rPr lang="ro-RO" dirty="0">
                <a:solidFill>
                  <a:schemeClr val="accent1">
                    <a:lumMod val="75000"/>
                    <a:alpha val="60000"/>
                  </a:schemeClr>
                </a:solidFill>
              </a:rPr>
              <a:t>	--Ștergerea</a:t>
            </a:r>
            <a:r>
              <a:rPr lang="en-US" dirty="0">
                <a:solidFill>
                  <a:schemeClr val="accent1">
                    <a:lumMod val="75000"/>
                    <a:alpha val="60000"/>
                  </a:schemeClr>
                </a:solidFill>
              </a:rPr>
              <a:t> </a:t>
            </a:r>
            <a:r>
              <a:rPr lang="ro-RO" dirty="0">
                <a:solidFill>
                  <a:schemeClr val="accent1">
                    <a:lumMod val="75000"/>
                    <a:alpha val="60000"/>
                  </a:schemeClr>
                </a:solidFill>
              </a:rPr>
              <a:t>tabelului </a:t>
            </a:r>
            <a:r>
              <a:rPr lang="ro-RO" i="1" dirty="0">
                <a:solidFill>
                  <a:schemeClr val="accent1">
                    <a:lumMod val="75000"/>
                    <a:alpha val="60000"/>
                  </a:schemeClr>
                </a:solidFill>
              </a:rPr>
              <a:t>Note</a:t>
            </a:r>
            <a:endParaRPr lang="ro-RO" dirty="0">
              <a:solidFill>
                <a:schemeClr val="accent1">
                  <a:lumMod val="75000"/>
                  <a:alpha val="60000"/>
                </a:schemeClr>
              </a:solidFill>
            </a:endParaRPr>
          </a:p>
          <a:p>
            <a:pPr marL="0" indent="0">
              <a:buNone/>
            </a:pPr>
            <a:r>
              <a:rPr lang="ro-RO" dirty="0"/>
              <a:t>	</a:t>
            </a:r>
            <a:r>
              <a:rPr lang="ro-RO" dirty="0">
                <a:solidFill>
                  <a:srgbClr val="0000FF">
                    <a:alpha val="60000"/>
                  </a:srgbClr>
                </a:solidFill>
                <a:latin typeface="Consolas" panose="020B0609020204030204" pitchFamily="49" charset="0"/>
              </a:rPr>
              <a:t>DROP TABLE </a:t>
            </a:r>
            <a:r>
              <a:rPr lang="ro-RO" dirty="0">
                <a:latin typeface="Consolas" panose="020B0609020204030204" pitchFamily="49" charset="0"/>
              </a:rPr>
              <a:t>Note</a:t>
            </a:r>
            <a:r>
              <a:rPr lang="en-US" dirty="0">
                <a:latin typeface="Consolas" panose="020B0609020204030204" pitchFamily="49" charset="0"/>
              </a:rPr>
              <a:t>;</a:t>
            </a:r>
            <a:endParaRPr lang="ro-RO" dirty="0">
              <a:latin typeface="Consolas" panose="020B0609020204030204" pitchFamily="49" charset="0"/>
            </a:endParaRPr>
          </a:p>
          <a:p>
            <a:pPr marL="0" indent="0">
              <a:buNone/>
            </a:pPr>
            <a:r>
              <a:rPr lang="ro-RO" dirty="0">
                <a:latin typeface="Consolas" panose="020B0609020204030204" pitchFamily="49" charset="0"/>
              </a:rPr>
              <a:t>	</a:t>
            </a:r>
          </a:p>
          <a:p>
            <a:endParaRPr lang="ro-RO" dirty="0"/>
          </a:p>
        </p:txBody>
      </p:sp>
    </p:spTree>
    <p:extLst>
      <p:ext uri="{BB962C8B-B14F-4D97-AF65-F5344CB8AC3E}">
        <p14:creationId xmlns:p14="http://schemas.microsoft.com/office/powerpoint/2010/main" val="2882974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1B183-1FBD-21D0-EBF0-2155F272F4EF}"/>
              </a:ext>
            </a:extLst>
          </p:cNvPr>
          <p:cNvSpPr>
            <a:spLocks noGrp="1"/>
          </p:cNvSpPr>
          <p:nvPr>
            <p:ph type="title"/>
          </p:nvPr>
        </p:nvSpPr>
        <p:spPr/>
        <p:txBody>
          <a:bodyPr/>
          <a:lstStyle/>
          <a:p>
            <a:r>
              <a:rPr lang="ro-RO" dirty="0">
                <a:latin typeface="+mn-lt"/>
              </a:rPr>
              <a:t>Ștergerea bazei de date</a:t>
            </a:r>
            <a:endParaRPr lang="ro-RO" dirty="0"/>
          </a:p>
        </p:txBody>
      </p:sp>
      <p:sp>
        <p:nvSpPr>
          <p:cNvPr id="3" name="Content Placeholder 2">
            <a:extLst>
              <a:ext uri="{FF2B5EF4-FFF2-40B4-BE49-F238E27FC236}">
                <a16:creationId xmlns:a16="http://schemas.microsoft.com/office/drawing/2014/main" id="{915C0C84-CCD2-6552-0DD2-736FD89DD07B}"/>
              </a:ext>
            </a:extLst>
          </p:cNvPr>
          <p:cNvSpPr>
            <a:spLocks noGrp="1"/>
          </p:cNvSpPr>
          <p:nvPr>
            <p:ph idx="1"/>
          </p:nvPr>
        </p:nvSpPr>
        <p:spPr>
          <a:xfrm>
            <a:off x="989399" y="1685925"/>
            <a:ext cx="10933311" cy="4981205"/>
          </a:xfrm>
        </p:spPr>
        <p:txBody>
          <a:bodyPr/>
          <a:lstStyle/>
          <a:p>
            <a:r>
              <a:rPr lang="ro-RO" dirty="0"/>
              <a:t>Dacă dorim să ștergem baza de date, vom folosi instrucțiunea </a:t>
            </a:r>
            <a:r>
              <a:rPr lang="ro-RO" b="1" i="1" dirty="0"/>
              <a:t>DROP DATABASE</a:t>
            </a:r>
            <a:r>
              <a:rPr lang="ro-RO" dirty="0"/>
              <a:t>: </a:t>
            </a:r>
          </a:p>
          <a:p>
            <a:pPr marL="0" indent="0">
              <a:buNone/>
            </a:pPr>
            <a:r>
              <a:rPr lang="en-US" dirty="0">
                <a:solidFill>
                  <a:schemeClr val="accent1">
                    <a:lumMod val="75000"/>
                    <a:alpha val="60000"/>
                  </a:schemeClr>
                </a:solidFill>
              </a:rPr>
              <a:t>	</a:t>
            </a:r>
            <a:r>
              <a:rPr lang="ro-RO" dirty="0">
                <a:solidFill>
                  <a:schemeClr val="accent1">
                    <a:lumMod val="75000"/>
                    <a:alpha val="60000"/>
                  </a:schemeClr>
                </a:solidFill>
              </a:rPr>
              <a:t>--Ștergerea bazei de date </a:t>
            </a:r>
            <a:r>
              <a:rPr lang="ro-RO" i="1" dirty="0">
                <a:solidFill>
                  <a:schemeClr val="accent1">
                    <a:lumMod val="75000"/>
                    <a:alpha val="60000"/>
                  </a:schemeClr>
                </a:solidFill>
              </a:rPr>
              <a:t>NoteFilme</a:t>
            </a:r>
            <a:endParaRPr lang="ro-RO" dirty="0">
              <a:solidFill>
                <a:schemeClr val="accent1">
                  <a:lumMod val="75000"/>
                  <a:alpha val="60000"/>
                </a:schemeClr>
              </a:solidFill>
            </a:endParaRPr>
          </a:p>
          <a:p>
            <a:pPr marL="0" indent="0">
              <a:buNone/>
            </a:pPr>
            <a:r>
              <a:rPr lang="ro-RO" dirty="0"/>
              <a:t>	</a:t>
            </a:r>
            <a:r>
              <a:rPr lang="en-US" dirty="0">
                <a:solidFill>
                  <a:srgbClr val="0000FF">
                    <a:alpha val="60000"/>
                  </a:srgbClr>
                </a:solidFill>
                <a:latin typeface="Consolas" panose="020B0609020204030204" pitchFamily="49" charset="0"/>
              </a:rPr>
              <a:t>USE</a:t>
            </a:r>
            <a:r>
              <a:rPr lang="en-US" dirty="0">
                <a:latin typeface="Consolas" panose="020B0609020204030204" pitchFamily="49" charset="0"/>
              </a:rPr>
              <a:t> master;</a:t>
            </a:r>
          </a:p>
          <a:p>
            <a:pPr marL="0" indent="0">
              <a:buNone/>
            </a:pPr>
            <a:r>
              <a:rPr lang="en-US" dirty="0">
                <a:solidFill>
                  <a:srgbClr val="0000FF">
                    <a:alpha val="60000"/>
                  </a:srgbClr>
                </a:solidFill>
                <a:latin typeface="Consolas" panose="020B0609020204030204" pitchFamily="49" charset="0"/>
              </a:rPr>
              <a:t>	DROP</a:t>
            </a:r>
            <a:r>
              <a:rPr lang="ro-RO" dirty="0">
                <a:solidFill>
                  <a:srgbClr val="0000FF">
                    <a:alpha val="60000"/>
                  </a:srgbClr>
                </a:solidFill>
                <a:latin typeface="Consolas" panose="020B0609020204030204" pitchFamily="49" charset="0"/>
              </a:rPr>
              <a:t> DATABASE </a:t>
            </a:r>
            <a:r>
              <a:rPr lang="en-US" dirty="0" err="1">
                <a:latin typeface="Consolas" panose="020B0609020204030204" pitchFamily="49" charset="0"/>
              </a:rPr>
              <a:t>NoteF</a:t>
            </a:r>
            <a:r>
              <a:rPr lang="ro-RO" dirty="0">
                <a:latin typeface="Consolas" panose="020B0609020204030204" pitchFamily="49" charset="0"/>
              </a:rPr>
              <a:t>ilme</a:t>
            </a:r>
            <a:r>
              <a:rPr lang="en-US" dirty="0">
                <a:latin typeface="Consolas" panose="020B0609020204030204" pitchFamily="49" charset="0"/>
              </a:rPr>
              <a:t>;</a:t>
            </a:r>
            <a:endParaRPr lang="ro-RO" dirty="0">
              <a:latin typeface="Consolas" panose="020B0609020204030204" pitchFamily="49" charset="0"/>
            </a:endParaRPr>
          </a:p>
          <a:p>
            <a:r>
              <a:rPr lang="ro-RO" dirty="0">
                <a:solidFill>
                  <a:srgbClr val="FF0000">
                    <a:alpha val="60000"/>
                  </a:srgbClr>
                </a:solidFill>
              </a:rPr>
              <a:t>!!!Este important să fim conectați la o altă bază de date în momentul în care ștergem baza de date </a:t>
            </a:r>
            <a:r>
              <a:rPr lang="ro-RO" i="1" dirty="0">
                <a:solidFill>
                  <a:srgbClr val="FF0000">
                    <a:alpha val="60000"/>
                  </a:srgbClr>
                </a:solidFill>
              </a:rPr>
              <a:t>NoteFilme</a:t>
            </a:r>
            <a:r>
              <a:rPr lang="ro-RO" dirty="0">
                <a:solidFill>
                  <a:srgbClr val="FF0000">
                    <a:alpha val="60000"/>
                  </a:srgbClr>
                </a:solidFill>
              </a:rPr>
              <a:t> de pe server, în caz contrar va apărea o eroare și ștergerea acesteia va eșua</a:t>
            </a:r>
          </a:p>
        </p:txBody>
      </p:sp>
    </p:spTree>
    <p:extLst>
      <p:ext uri="{BB962C8B-B14F-4D97-AF65-F5344CB8AC3E}">
        <p14:creationId xmlns:p14="http://schemas.microsoft.com/office/powerpoint/2010/main" val="3126429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B9FDBA-E2B3-66A6-289E-46844D42CF6B}"/>
              </a:ext>
            </a:extLst>
          </p:cNvPr>
          <p:cNvSpPr>
            <a:spLocks noGrp="1"/>
          </p:cNvSpPr>
          <p:nvPr>
            <p:ph type="title"/>
          </p:nvPr>
        </p:nvSpPr>
        <p:spPr/>
        <p:txBody>
          <a:bodyPr/>
          <a:lstStyle/>
          <a:p>
            <a:r>
              <a:rPr lang="ro-RO" dirty="0">
                <a:latin typeface="+mn-lt"/>
              </a:rPr>
              <a:t>Problemă propusă</a:t>
            </a:r>
            <a:endParaRPr lang="ro-RO" dirty="0"/>
          </a:p>
        </p:txBody>
      </p:sp>
      <p:sp>
        <p:nvSpPr>
          <p:cNvPr id="3" name="Content Placeholder 2">
            <a:extLst>
              <a:ext uri="{FF2B5EF4-FFF2-40B4-BE49-F238E27FC236}">
                <a16:creationId xmlns:a16="http://schemas.microsoft.com/office/drawing/2014/main" id="{F6A85CC5-AB37-B15C-4831-BD6C70DA4C87}"/>
              </a:ext>
            </a:extLst>
          </p:cNvPr>
          <p:cNvSpPr>
            <a:spLocks noGrp="1"/>
          </p:cNvSpPr>
          <p:nvPr>
            <p:ph idx="1"/>
          </p:nvPr>
        </p:nvSpPr>
        <p:spPr>
          <a:xfrm>
            <a:off x="989400" y="1685925"/>
            <a:ext cx="10649225" cy="4972327"/>
          </a:xfrm>
        </p:spPr>
        <p:txBody>
          <a:bodyPr>
            <a:normAutofit/>
          </a:bodyPr>
          <a:lstStyle/>
          <a:p>
            <a:r>
              <a:rPr lang="ro-RO" sz="2400" dirty="0"/>
              <a:t>Să se creeze o bază de date care stochează informații despre un parc de distracții. Entitățile de interes pentru domeniul problemei sunt: </a:t>
            </a:r>
            <a:r>
              <a:rPr lang="ro-RO" sz="2400" b="1" dirty="0"/>
              <a:t>categorii de vizitatori</a:t>
            </a:r>
            <a:r>
              <a:rPr lang="ro-RO" sz="2400" dirty="0"/>
              <a:t>, </a:t>
            </a:r>
            <a:r>
              <a:rPr lang="ro-RO" sz="2400" b="1" dirty="0"/>
              <a:t>vizitatori</a:t>
            </a:r>
            <a:r>
              <a:rPr lang="ro-RO" sz="2400" dirty="0"/>
              <a:t>, </a:t>
            </a:r>
            <a:r>
              <a:rPr lang="ro-RO" sz="2400" b="1" dirty="0"/>
              <a:t>secțiuni</a:t>
            </a:r>
            <a:r>
              <a:rPr lang="ro-RO" sz="2400" dirty="0"/>
              <a:t> și </a:t>
            </a:r>
            <a:r>
              <a:rPr lang="ro-RO" sz="2400" b="1" dirty="0"/>
              <a:t>atracții</a:t>
            </a:r>
            <a:r>
              <a:rPr lang="ro-RO" sz="2400" dirty="0"/>
              <a:t>. Fiecare atracție din parcul de distracții are un </a:t>
            </a:r>
            <a:r>
              <a:rPr lang="ro-RO" sz="2400" b="1" dirty="0"/>
              <a:t>nume</a:t>
            </a:r>
            <a:r>
              <a:rPr lang="ro-RO" sz="2400" dirty="0"/>
              <a:t>, o </a:t>
            </a:r>
            <a:r>
              <a:rPr lang="ro-RO" sz="2400" b="1" dirty="0"/>
              <a:t>descriere</a:t>
            </a:r>
            <a:r>
              <a:rPr lang="ro-RO" sz="2400" dirty="0"/>
              <a:t>, o </a:t>
            </a:r>
            <a:r>
              <a:rPr lang="ro-RO" sz="2400" b="1" dirty="0"/>
              <a:t>vârstă minimă recomandată </a:t>
            </a:r>
            <a:r>
              <a:rPr lang="ro-RO" sz="2400" dirty="0"/>
              <a:t>și aparține unei singure secțiuni. Fiecare secțiune are un </a:t>
            </a:r>
            <a:r>
              <a:rPr lang="ro-RO" sz="2400" b="1" dirty="0"/>
              <a:t>nume</a:t>
            </a:r>
            <a:r>
              <a:rPr lang="ro-RO" sz="2400" dirty="0"/>
              <a:t> și o </a:t>
            </a:r>
            <a:r>
              <a:rPr lang="ro-RO" sz="2400" b="1" dirty="0"/>
              <a:t>descriere</a:t>
            </a:r>
            <a:r>
              <a:rPr lang="ro-RO" sz="2400" dirty="0"/>
              <a:t>. O secțiune poate conține mai multe atracții, dar fiecare atracție aparține unei singure secțiuni. Fiecare vizitator are un </a:t>
            </a:r>
            <a:r>
              <a:rPr lang="ro-RO" sz="2400" b="1" dirty="0"/>
              <a:t>nume</a:t>
            </a:r>
            <a:r>
              <a:rPr lang="ro-RO" sz="2400" dirty="0"/>
              <a:t>, o </a:t>
            </a:r>
            <a:r>
              <a:rPr lang="ro-RO" sz="2400" b="1" dirty="0"/>
              <a:t>adresă de email</a:t>
            </a:r>
            <a:r>
              <a:rPr lang="ro-RO" sz="2400" dirty="0"/>
              <a:t> și aparține unei singure categorii de vizitatori. Fiecare categorie de vizitatori are un </a:t>
            </a:r>
            <a:r>
              <a:rPr lang="ro-RO" sz="2400" b="1" dirty="0"/>
              <a:t>nume</a:t>
            </a:r>
            <a:r>
              <a:rPr lang="ro-RO" sz="2400" dirty="0"/>
              <a:t>. O categorie de vizitatori conține mai mulți vizitatori, dar fiecare vizitator aparține doar unei singure categorii. Fiecare vizitator poate vizita mai multe atracții, iar fiecare atracție poate fi vizitată de mai mulți vizitatori. Un vizitator poate da o singură notă fiecărei atracții pe care a vizitat-o. Nota este un număr real cuprins între 1 și 10. </a:t>
            </a:r>
          </a:p>
        </p:txBody>
      </p:sp>
    </p:spTree>
    <p:extLst>
      <p:ext uri="{BB962C8B-B14F-4D97-AF65-F5344CB8AC3E}">
        <p14:creationId xmlns:p14="http://schemas.microsoft.com/office/powerpoint/2010/main" val="837335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CED1-BB77-B21A-9BE5-54CE767BF832}"/>
              </a:ext>
            </a:extLst>
          </p:cNvPr>
          <p:cNvSpPr>
            <a:spLocks noGrp="1"/>
          </p:cNvSpPr>
          <p:nvPr>
            <p:ph type="title"/>
          </p:nvPr>
        </p:nvSpPr>
        <p:spPr/>
        <p:txBody>
          <a:bodyPr/>
          <a:lstStyle/>
          <a:p>
            <a:r>
              <a:rPr lang="ro-RO" dirty="0">
                <a:latin typeface="+mn-lt"/>
              </a:rPr>
              <a:t>Bibliografie</a:t>
            </a:r>
          </a:p>
        </p:txBody>
      </p:sp>
      <p:sp>
        <p:nvSpPr>
          <p:cNvPr id="3" name="Content Placeholder 2">
            <a:extLst>
              <a:ext uri="{FF2B5EF4-FFF2-40B4-BE49-F238E27FC236}">
                <a16:creationId xmlns:a16="http://schemas.microsoft.com/office/drawing/2014/main" id="{B9161157-E6D7-C7E5-174B-D80F83E89457}"/>
              </a:ext>
            </a:extLst>
          </p:cNvPr>
          <p:cNvSpPr>
            <a:spLocks noGrp="1"/>
          </p:cNvSpPr>
          <p:nvPr>
            <p:ph idx="1"/>
          </p:nvPr>
        </p:nvSpPr>
        <p:spPr>
          <a:xfrm>
            <a:off x="989400" y="1685925"/>
            <a:ext cx="10738002" cy="5016716"/>
          </a:xfrm>
        </p:spPr>
        <p:txBody>
          <a:bodyPr>
            <a:normAutofit/>
          </a:bodyPr>
          <a:lstStyle/>
          <a:p>
            <a:r>
              <a:rPr lang="ro-RO" dirty="0">
                <a:hlinkClick r:id="rId2"/>
              </a:rPr>
              <a:t>https://learn.microsoft.com/en-us/sql/t-sql/statements/create-database-transact-sql?view=sql-server-ver16&amp;tabs=sqlpool</a:t>
            </a:r>
            <a:endParaRPr lang="ro-RO" dirty="0"/>
          </a:p>
          <a:p>
            <a:r>
              <a:rPr lang="ro-RO" dirty="0">
                <a:hlinkClick r:id="rId3"/>
              </a:rPr>
              <a:t>https://learn.microsoft.com/en-us/sql/t-sql/statements/alter-database-transact-sql?view=sql-server-ver16&amp;tabs=sqlpool</a:t>
            </a:r>
            <a:endParaRPr lang="ro-RO" dirty="0"/>
          </a:p>
          <a:p>
            <a:r>
              <a:rPr lang="ro-RO" dirty="0">
                <a:hlinkClick r:id="rId4"/>
              </a:rPr>
              <a:t>https://learn.microsoft.com/en-us/sql/t-sql/statements/drop-database-transact-sql?view=sql-server-ver16</a:t>
            </a:r>
            <a:endParaRPr lang="en-US" dirty="0"/>
          </a:p>
          <a:p>
            <a:r>
              <a:rPr lang="ro-RO" dirty="0">
                <a:hlinkClick r:id="rId5"/>
              </a:rPr>
              <a:t>https://learn.microsoft.com/en-us/sql/t-sql/statements/create-table-transact-sql?view=sql-server-ver16</a:t>
            </a:r>
            <a:endParaRPr lang="en-US" dirty="0"/>
          </a:p>
          <a:p>
            <a:r>
              <a:rPr lang="ro-RO" dirty="0">
                <a:hlinkClick r:id="rId6"/>
              </a:rPr>
              <a:t>https://learn.microsoft.com/en-us/sql/t-sql/statements/alter-table-transact-sql?view=sql-server-ver16</a:t>
            </a:r>
            <a:endParaRPr lang="en-US" dirty="0"/>
          </a:p>
          <a:p>
            <a:endParaRPr lang="ro-RO" dirty="0"/>
          </a:p>
        </p:txBody>
      </p:sp>
    </p:spTree>
    <p:extLst>
      <p:ext uri="{BB962C8B-B14F-4D97-AF65-F5344CB8AC3E}">
        <p14:creationId xmlns:p14="http://schemas.microsoft.com/office/powerpoint/2010/main" val="761294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8CED1-BB77-B21A-9BE5-54CE767BF832}"/>
              </a:ext>
            </a:extLst>
          </p:cNvPr>
          <p:cNvSpPr>
            <a:spLocks noGrp="1"/>
          </p:cNvSpPr>
          <p:nvPr>
            <p:ph type="title"/>
          </p:nvPr>
        </p:nvSpPr>
        <p:spPr/>
        <p:txBody>
          <a:bodyPr/>
          <a:lstStyle/>
          <a:p>
            <a:r>
              <a:rPr lang="ro-RO" dirty="0">
                <a:latin typeface="+mn-lt"/>
              </a:rPr>
              <a:t>Bibliografie</a:t>
            </a:r>
          </a:p>
        </p:txBody>
      </p:sp>
      <p:sp>
        <p:nvSpPr>
          <p:cNvPr id="3" name="Content Placeholder 2">
            <a:extLst>
              <a:ext uri="{FF2B5EF4-FFF2-40B4-BE49-F238E27FC236}">
                <a16:creationId xmlns:a16="http://schemas.microsoft.com/office/drawing/2014/main" id="{B9161157-E6D7-C7E5-174B-D80F83E89457}"/>
              </a:ext>
            </a:extLst>
          </p:cNvPr>
          <p:cNvSpPr>
            <a:spLocks noGrp="1"/>
          </p:cNvSpPr>
          <p:nvPr>
            <p:ph idx="1"/>
          </p:nvPr>
        </p:nvSpPr>
        <p:spPr>
          <a:xfrm>
            <a:off x="989400" y="1685925"/>
            <a:ext cx="10738002" cy="5016716"/>
          </a:xfrm>
        </p:spPr>
        <p:txBody>
          <a:bodyPr/>
          <a:lstStyle/>
          <a:p>
            <a:r>
              <a:rPr lang="ro-RO" dirty="0">
                <a:hlinkClick r:id="rId2"/>
              </a:rPr>
              <a:t>https://learn.microsoft.com/en-us/sql/t-sql/statements/drop-table-transact-sql?view=sql-server-ver16</a:t>
            </a:r>
            <a:endParaRPr lang="en-US" dirty="0"/>
          </a:p>
          <a:p>
            <a:r>
              <a:rPr lang="ro-RO" dirty="0">
                <a:hlinkClick r:id="rId3"/>
              </a:rPr>
              <a:t>https://learn.microsoft.com/en-us/sql/relational-databases/tables/primary-and-foreign-key-constraints?view=sql-server-ver16</a:t>
            </a:r>
            <a:endParaRPr lang="en-US" dirty="0"/>
          </a:p>
          <a:p>
            <a:r>
              <a:rPr lang="ro-RO" dirty="0">
                <a:hlinkClick r:id="rId4"/>
              </a:rPr>
              <a:t>https://learn.microsoft.com/en-us/sql/relational-databases/tables/unique-constraints-and-check-constraints?view=sql-server-ver16</a:t>
            </a:r>
            <a:endParaRPr lang="en-US" dirty="0"/>
          </a:p>
          <a:p>
            <a:r>
              <a:rPr lang="ro-RO" dirty="0">
                <a:hlinkClick r:id="rId5"/>
              </a:rPr>
              <a:t>https://learn.microsoft.com/en-us/sql/relational-databases/tables/specify-default-values-for-columns?view=sql-server-ver16</a:t>
            </a:r>
            <a:endParaRPr lang="en-US" dirty="0"/>
          </a:p>
          <a:p>
            <a:endParaRPr lang="ro-RO" dirty="0"/>
          </a:p>
        </p:txBody>
      </p:sp>
    </p:spTree>
    <p:extLst>
      <p:ext uri="{BB962C8B-B14F-4D97-AF65-F5344CB8AC3E}">
        <p14:creationId xmlns:p14="http://schemas.microsoft.com/office/powerpoint/2010/main" val="3450374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16308757_TF02895256" id="{3618AF2C-E955-4D87-AA77-A632EB049885}" vid="{2F1D0CFD-78FA-41B2-9059-A58E1373FFEB}"/>
    </a:ext>
  </a:extLst>
</a:theme>
</file>

<file path=ppt/theme/theme2.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Temă Offic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CF5EC110EC696428338E6F0A8F538FE" ma:contentTypeVersion="0" ma:contentTypeDescription="Create a new document." ma:contentTypeScope="" ma:versionID="c6426f55de74b6ea2f9e9f0396ea5206">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3DDAE9C-BD75-461C-AB9F-5C8E6C47D2C4}"/>
</file>

<file path=customXml/itemProps2.xml><?xml version="1.0" encoding="utf-8"?>
<ds:datastoreItem xmlns:ds="http://schemas.openxmlformats.org/officeDocument/2006/customXml" ds:itemID="{029188AD-5041-4AD0-BA9B-912B3705542A}"/>
</file>

<file path=customXml/itemProps3.xml><?xml version="1.0" encoding="utf-8"?>
<ds:datastoreItem xmlns:ds="http://schemas.openxmlformats.org/officeDocument/2006/customXml" ds:itemID="{8D923690-D9A9-453D-B13B-8CF1BB0CA306}"/>
</file>

<file path=docProps/app.xml><?xml version="1.0" encoding="utf-8"?>
<Properties xmlns="http://schemas.openxmlformats.org/officeDocument/2006/extended-properties" xmlns:vt="http://schemas.openxmlformats.org/officeDocument/2006/docPropsVTypes">
  <Template>Prezentare cu pictură Ocean (ecran lat)</Template>
  <TotalTime>235</TotalTime>
  <Words>2481</Words>
  <Application>Microsoft Office PowerPoint</Application>
  <PresentationFormat>Widescreen</PresentationFormat>
  <Paragraphs>211</Paragraphs>
  <Slides>31</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Consolas</vt:lpstr>
      <vt:lpstr>Georgia</vt:lpstr>
      <vt:lpstr>Ocean 16x9</vt:lpstr>
      <vt:lpstr>SQL DDL: Limbaj de definire a datelor</vt:lpstr>
      <vt:lpstr>Limbajul SQL: DDL</vt:lpstr>
      <vt:lpstr>Problemă</vt:lpstr>
      <vt:lpstr>Rezolvare: diagrama bazei de date relaționale</vt:lpstr>
      <vt:lpstr>Rezolvare: Cod Transact-SQL</vt:lpstr>
      <vt:lpstr>Rezolvare: Cod Transact-SQL</vt:lpstr>
      <vt:lpstr>Rezolvare: Cod Transact-SQL</vt:lpstr>
      <vt:lpstr>Rezolvare: Cod Transact-SQL</vt:lpstr>
      <vt:lpstr>Observații</vt:lpstr>
      <vt:lpstr>Observații</vt:lpstr>
      <vt:lpstr>Rezolvare: Cod Transact-SQL</vt:lpstr>
      <vt:lpstr>Rezolvare: Cod Transact-SQL</vt:lpstr>
      <vt:lpstr>Rezolvare: Cod Transact-SQL</vt:lpstr>
      <vt:lpstr>Observații</vt:lpstr>
      <vt:lpstr>Observații</vt:lpstr>
      <vt:lpstr>Rezolvare: Cod Transact-SQL</vt:lpstr>
      <vt:lpstr>Rezolvare: Cod Transact-SQL</vt:lpstr>
      <vt:lpstr>Rezolvare: Cod Transact-SQL</vt:lpstr>
      <vt:lpstr>Rezolvare: Cod Transact-SQL</vt:lpstr>
      <vt:lpstr>Observații</vt:lpstr>
      <vt:lpstr>Modificări la nivelul structurii bazei de date</vt:lpstr>
      <vt:lpstr>Modificări la nivelul structurii bazei de date</vt:lpstr>
      <vt:lpstr>Modificări la nivelul structurii bazei de date</vt:lpstr>
      <vt:lpstr>Modificări la nivelul structurii bazei de date</vt:lpstr>
      <vt:lpstr>Modificări la nivelul structurii bazei de date</vt:lpstr>
      <vt:lpstr>Modificări la nivelul structurii bazei de date</vt:lpstr>
      <vt:lpstr>Ștergerea unui tabel din baza de date</vt:lpstr>
      <vt:lpstr>Ștergerea bazei de date</vt:lpstr>
      <vt:lpstr>Problemă propusă</vt:lpstr>
      <vt:lpstr>Bibliografie</vt:lpstr>
      <vt:lpstr>Bibliografie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DDL: Limbaj de definire a datelor</dc:title>
  <dc:creator>Camelia Andor</dc:creator>
  <cp:lastModifiedBy>Camelia Andor</cp:lastModifiedBy>
  <cp:revision>25</cp:revision>
  <dcterms:created xsi:type="dcterms:W3CDTF">2023-09-17T20:41:51Z</dcterms:created>
  <dcterms:modified xsi:type="dcterms:W3CDTF">2023-09-25T18:40:46Z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0x0101006CF5EC110EC696428338E6F0A8F538FE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